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One sentence on what the assessment asked for,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Fifteen seconds. Point at item 3 — the CRAAP evaluation runs through every prompt slide, not just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provocation aloud, word for word. It is the client's wording, not mine — note that it says participation, which is broader than retention.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map slide. Everything after it is one step of this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the first prompt is not about the client at all. The forced disclosure in the quote is what makes the Authority finding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this was deliberate. It is the control, not a mistake — without it there is nothing to compare Prompt 3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move: blocking the tech they already run forces new reasoning. Read the two quoted constraints aloud — they are the reason the answer is checkable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carries the argument. Slow down. The permission to fail — 'just say so' — is what produced the honest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chain. Note that honesty had to be requested; it was never volunteered.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validation slide. Land row 3 and row 4 hardest — the price range is not supported by either Australian supplier, and the 55+ block collapses two very different participation 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Tutorial 3 asks for the full five elements on the final output. This is that slide — take it slowly, one element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the assignment's actual question: can Followmont move ahead? Yes — conditionally, and the conditions come from the CRAAP findings.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this slide aloud. Leave it on screen while you close. If asked, the AI transcript is retained and can be provided.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00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PROMPT CHAIN &amp; CRAAP 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057400"/>
            <a:ext cx="8412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Prompts,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Client Problem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42519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Followmont Transport — keeping workers aged 55 and over in the cab and on the dock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B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Franco Gomez  ·  n12854468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7150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2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BSB105 The Future Enterprise  ·  Assignment 1: Oral Critique of AI-generated Content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658368" cy="658368"/>
          </a:xfrm>
          <a:prstGeom prst="ellipse">
            <a:avLst/>
          </a:prstGeom>
          <a:solidFill>
            <a:srgbClr val="F4F1EE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600200" y="1801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114800" y="1801368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client, the problem, and what I set out to test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658368" cy="658368"/>
          </a:xfrm>
          <a:prstGeom prst="ellipse">
            <a:avLst/>
          </a:prstGeom>
          <a:solidFill>
            <a:srgbClr val="F4F1EE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00200" y="28986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114800" y="2898648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 of five, each building on the answer before it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658368" cy="658368"/>
          </a:xfrm>
          <a:prstGeom prst="ellipse">
            <a:avLst/>
          </a:prstGeom>
          <a:solidFill>
            <a:srgbClr val="B85042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0233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00200" y="39959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CRAAP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114800" y="3995928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Currency, Relevance, Authority, Accuracy, Purpose — applied at every step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658368" cy="658368"/>
          </a:xfrm>
          <a:prstGeom prst="ellipse">
            <a:avLst/>
          </a:prstGeom>
          <a:solidFill>
            <a:srgbClr val="F4F1EE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120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00200" y="5093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114800" y="5093208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validated independently, and what I recommend to Followmont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Followmont Transport is a family-owned Australian road freight operator running line-haul and local delivery across regional Queensland and northern New South Wales.</a:t>
            </a:r>
            <a:endParaRPr lang="en-US" sz="1700" dirty="0"/>
          </a:p>
          <a:p>
            <a:pPr indent="0" marL="0">
              <a:lnSpc>
                <a:spcPts val="2700"/>
              </a:lnSpc>
              <a:buNone/>
            </a:pPr>
            <a:endParaRPr lang="en-US" sz="17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drivers and dock staff are ageing. The physical side of the job — lifting freight, climbing in and out of the cab — pushes experienced people out of operational roles before they would otherwise choose to leave.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720840" y="1691640"/>
            <a:ext cx="4800600" cy="1024128"/>
          </a:xfrm>
          <a:prstGeom prst="roundRect">
            <a:avLst>
              <a:gd name="adj" fmla="val 7143"/>
            </a:avLst>
          </a:prstGeom>
          <a:solidFill>
            <a:srgbClr val="F4F1EE"/>
          </a:solidFill>
          <a:ln w="12700">
            <a:solidFill>
              <a:srgbClr val="E6E0DA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95160" y="1837944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~1,000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006840" y="183794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20840" y="2862072"/>
            <a:ext cx="4800600" cy="1024128"/>
          </a:xfrm>
          <a:prstGeom prst="roundRect">
            <a:avLst>
              <a:gd name="adj" fmla="val 7143"/>
            </a:avLst>
          </a:prstGeom>
          <a:solidFill>
            <a:srgbClr val="F4F1EE"/>
          </a:solidFill>
          <a:ln w="12700">
            <a:solidFill>
              <a:srgbClr val="E6E0DA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95160" y="3008376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006840" y="300837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4032504"/>
            <a:ext cx="4800600" cy="1024128"/>
          </a:xfrm>
          <a:prstGeom prst="roundRect">
            <a:avLst>
              <a:gd name="adj" fmla="val 7143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95160" y="417880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006840" y="417880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at risk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230368"/>
            <a:ext cx="10881360" cy="1115568"/>
          </a:xfrm>
          <a:prstGeom prst="roundRect">
            <a:avLst>
              <a:gd name="adj" fmla="val 6557"/>
            </a:avLst>
          </a:prstGeom>
          <a:solidFill>
            <a:srgbClr val="E7E8D1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39496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i="1" dirty="0">
                <a:solidFill>
                  <a:srgbClr val="5C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might we harness data and technology to improve the workforce participation of transport and logistics workers aged 55 and over?”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598932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7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Followmont Transport, presentation to QUT, July 2026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chain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prompts in one conversation. Each one uses the answer before it — nothing restarts.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039112" y="2889504"/>
            <a:ext cx="1444752" cy="18288"/>
          </a:xfrm>
          <a:prstGeom prst="rect">
            <a:avLst/>
          </a:prstGeom>
          <a:solidFill>
            <a:srgbClr val="DDD6D0"/>
          </a:solidFill>
          <a:ln/>
        </p:spPr>
      </p:sp>
      <p:sp>
        <p:nvSpPr>
          <p:cNvPr id="5" name="Shape 3"/>
          <p:cNvSpPr/>
          <p:nvPr/>
        </p:nvSpPr>
        <p:spPr>
          <a:xfrm>
            <a:off x="1243584" y="2487168"/>
            <a:ext cx="822960" cy="822960"/>
          </a:xfrm>
          <a:prstGeom prst="ellipse">
            <a:avLst/>
          </a:prstGeom>
          <a:solidFill>
            <a:srgbClr val="B85042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3584" y="24871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method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400507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rules before touching the problem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51960" y="2889504"/>
            <a:ext cx="1444752" cy="18288"/>
          </a:xfrm>
          <a:prstGeom prst="rect">
            <a:avLst/>
          </a:prstGeom>
          <a:solidFill>
            <a:srgbClr val="DDD6D0"/>
          </a:solidFill>
          <a:ln/>
        </p:spPr>
      </p:sp>
      <p:sp>
        <p:nvSpPr>
          <p:cNvPr id="10" name="Shape 8"/>
          <p:cNvSpPr/>
          <p:nvPr/>
        </p:nvSpPr>
        <p:spPr>
          <a:xfrm>
            <a:off x="3456432" y="2487168"/>
            <a:ext cx="822960" cy="822960"/>
          </a:xfrm>
          <a:prstGeom prst="ellipse">
            <a:avLst/>
          </a:prstGeom>
          <a:solidFill>
            <a:srgbClr val="F4F1EE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24871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852928" y="356616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it badly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79776" y="400507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generic question, on purpose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64808" y="2889504"/>
            <a:ext cx="1444752" cy="18288"/>
          </a:xfrm>
          <a:prstGeom prst="rect">
            <a:avLst/>
          </a:prstGeom>
          <a:solidFill>
            <a:srgbClr val="DDD6D0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0" y="2487168"/>
            <a:ext cx="822960" cy="822960"/>
          </a:xfrm>
          <a:prstGeom prst="ellipse">
            <a:avLst/>
          </a:prstGeom>
          <a:solidFill>
            <a:srgbClr val="F4F1EE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4871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065776" y="356616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client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992624" y="400507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operation, real constraints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677656" y="2889504"/>
            <a:ext cx="1444752" cy="18288"/>
          </a:xfrm>
          <a:prstGeom prst="rect">
            <a:avLst/>
          </a:prstGeom>
          <a:solidFill>
            <a:srgbClr val="DDD6D0"/>
          </a:solidFill>
          <a:ln/>
        </p:spPr>
      </p:sp>
      <p:sp>
        <p:nvSpPr>
          <p:cNvPr id="20" name="Shape 18"/>
          <p:cNvSpPr/>
          <p:nvPr/>
        </p:nvSpPr>
        <p:spPr>
          <a:xfrm>
            <a:off x="7882128" y="2487168"/>
            <a:ext cx="822960" cy="822960"/>
          </a:xfrm>
          <a:prstGeom prst="ellipse">
            <a:avLst/>
          </a:prstGeom>
          <a:solidFill>
            <a:srgbClr val="F4F1EE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82128" y="24871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278624" y="356616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for receipts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05472" y="400507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 for every number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094976" y="2487168"/>
            <a:ext cx="822960" cy="822960"/>
          </a:xfrm>
          <a:prstGeom prst="ellipse">
            <a:avLst/>
          </a:prstGeom>
          <a:solidFill>
            <a:srgbClr val="F4F1EE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94976" y="24871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491472" y="356616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useful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418320" y="4005072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for the leadership team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53492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E7E8D1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53492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of the chain is the gap between the steps — what changes when you add detail, and what only changes when you ask for evidence.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1783080" y="411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method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57800" cy="2697480"/>
          </a:xfrm>
          <a:prstGeom prst="roundRect">
            <a:avLst>
              <a:gd name="adj" fmla="val 2712"/>
            </a:avLst>
          </a:prstGeom>
          <a:solidFill>
            <a:srgbClr val="F4F1EE"/>
          </a:solidFill>
          <a:ln w="12700">
            <a:solidFill>
              <a:srgbClr val="E6E0DA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171907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ASKED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87552" y="2057400"/>
            <a:ext cx="4562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client problem: what makes a prompt well designed, what do you do badly when I ask for research with citations, and how should I sequence prompts so each builds on the last?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3200400"/>
            <a:ext cx="4562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your answer draws on vendor documentation or on your own general behaviour rather than independent research, say so explicitly.”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257800" cy="2697480"/>
          </a:xfrm>
          <a:prstGeom prst="roundRect">
            <a:avLst>
              <a:gd name="adj" fmla="val 2712"/>
            </a:avLst>
          </a:prstGeom>
          <a:solidFill>
            <a:srgbClr val="E7E8D1"/>
          </a:solidFill>
          <a:ln w="12700">
            <a:solidFill>
              <a:srgbClr val="D8DAC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11112" y="171907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CAME BACK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11112" y="2057400"/>
            <a:ext cx="4562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usable method, and one admission worth keeping: it can produce citations that look right and aren't. Most of what it offered came from vendor prompt-engineering guides and from describing its own behaviour.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CRAAP EVALUATION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3456432" cy="1280160"/>
          </a:xfrm>
          <a:prstGeom prst="roundRect">
            <a:avLst>
              <a:gd name="adj" fmla="val 5000"/>
            </a:avLst>
          </a:prstGeom>
          <a:solidFill>
            <a:srgbClr val="FAF8F6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495604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6112" y="5285232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Leans on vendor documentation and self-description, not independent research.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52544" y="4800600"/>
            <a:ext cx="3456432" cy="1280160"/>
          </a:xfrm>
          <a:prstGeom prst="roundRect">
            <a:avLst>
              <a:gd name="adj" fmla="val 5000"/>
            </a:avLst>
          </a:prstGeom>
          <a:solidFill>
            <a:srgbClr val="FAF8F6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495604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08576" y="5285232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guides exist to promote the tool — useful, but not neutral.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65008" y="4800600"/>
            <a:ext cx="3456432" cy="1280160"/>
          </a:xfrm>
          <a:prstGeom prst="roundRect">
            <a:avLst>
              <a:gd name="adj" fmla="val 5000"/>
            </a:avLst>
          </a:prstGeom>
          <a:solidFill>
            <a:srgbClr val="FAF8F6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495604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5285232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Prompt-design guidance shifts with every model release; undated advice ages fast.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1783080" y="411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it badly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57800" cy="2697480"/>
          </a:xfrm>
          <a:prstGeom prst="roundRect">
            <a:avLst>
              <a:gd name="adj" fmla="val 2712"/>
            </a:avLst>
          </a:prstGeom>
          <a:solidFill>
            <a:srgbClr val="F4F1EE"/>
          </a:solidFill>
          <a:ln w="12700">
            <a:solidFill>
              <a:srgbClr val="E6E0DA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171907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ASKED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87552" y="2057400"/>
            <a:ext cx="4562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harness data and technology to improve the workforce participation of transport and logistics workers aged 55 and over?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3200400"/>
            <a:ext cx="4562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context, no constraints, no source demand. That was the point.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257800" cy="2697480"/>
          </a:xfrm>
          <a:prstGeom prst="roundRect">
            <a:avLst>
              <a:gd name="adj" fmla="val 2712"/>
            </a:avLst>
          </a:prstGeom>
          <a:solidFill>
            <a:srgbClr val="E7E8D1"/>
          </a:solidFill>
          <a:ln w="12700">
            <a:solidFill>
              <a:srgbClr val="D8DAC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11112" y="171907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CAME BACK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11112" y="2057400"/>
            <a:ext cx="4562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interventions: ergonomic wearables, predictive fatigue management, workforce analytics, knowledge capture, adaptive interfaces and phased retirement. None tied to a country, an employer or a product, and not one figure, date or source to check.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CRAAP EVALUATION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3456432" cy="1280160"/>
          </a:xfrm>
          <a:prstGeom prst="roundRect">
            <a:avLst>
              <a:gd name="adj" fmla="val 5000"/>
            </a:avLst>
          </a:prstGeom>
          <a:solidFill>
            <a:srgbClr val="FAF8F6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495604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6112" y="5285232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it is specific to Australia, to road freight, or to Followmont.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52544" y="4800600"/>
            <a:ext cx="3456432" cy="1280160"/>
          </a:xfrm>
          <a:prstGeom prst="roundRect">
            <a:avLst>
              <a:gd name="adj" fmla="val 5000"/>
            </a:avLst>
          </a:prstGeom>
          <a:solidFill>
            <a:srgbClr val="FAF8F6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495604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08576" y="5285232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figures and no sources — the claims cannot be verified either way.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65008" y="4800600"/>
            <a:ext cx="3456432" cy="1280160"/>
          </a:xfrm>
          <a:prstGeom prst="roundRect">
            <a:avLst>
              <a:gd name="adj" fmla="val 5000"/>
            </a:avLst>
          </a:prstGeom>
          <a:solidFill>
            <a:srgbClr val="FAF8F6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495604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5285232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Undated throughout; the same list would read the same in 2015.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1783080" y="411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client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57800" cy="2697480"/>
          </a:xfrm>
          <a:prstGeom prst="roundRect">
            <a:avLst>
              <a:gd name="adj" fmla="val 2712"/>
            </a:avLst>
          </a:prstGeom>
          <a:solidFill>
            <a:srgbClr val="F4F1EE"/>
          </a:solidFill>
          <a:ln w="12700">
            <a:solidFill>
              <a:srgbClr val="E6E0DA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171907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ASKED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87552" y="2057400"/>
            <a:ext cx="4562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Followmont, and here is the technology they already run — don't propose it again. Pick one technology and aim it at one barrier: the physical load of the job.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3200400"/>
            <a:ext cx="4562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“Name something specific enough that I could search for vendors.”  ·  “Where your evidence comes from outside Australia, say so.”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257800" cy="2697480"/>
          </a:xfrm>
          <a:prstGeom prst="roundRect">
            <a:avLst>
              <a:gd name="adj" fmla="val 2712"/>
            </a:avLst>
          </a:prstGeom>
          <a:solidFill>
            <a:srgbClr val="E7E8D1"/>
          </a:solidFill>
          <a:ln w="12700">
            <a:solidFill>
              <a:srgbClr val="D8DAC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11112" y="171907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CAME BACK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11112" y="2057400"/>
            <a:ext cx="4562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Exoskeletons for manual freight handling — five commercial vendors named, a price range attached, and the case argued across evidence, barriers, enablers and business case. Still not one source, and still no Australian regulation.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CRAAP EVALUATION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3456432" cy="1280160"/>
          </a:xfrm>
          <a:prstGeom prst="roundRect">
            <a:avLst>
              <a:gd name="adj" fmla="val 5000"/>
            </a:avLst>
          </a:prstGeom>
          <a:solidFill>
            <a:srgbClr val="FAF8F6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495604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6112" y="5285232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 is now right; the evidence behind it stayed generic.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52544" y="4800600"/>
            <a:ext cx="3456432" cy="1280160"/>
          </a:xfrm>
          <a:prstGeom prst="roundRect">
            <a:avLst>
              <a:gd name="adj" fmla="val 5000"/>
            </a:avLst>
          </a:prstGeom>
          <a:solidFill>
            <a:srgbClr val="FAF8F6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495604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08576" y="5285232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figures appeared — 15–30% muscle activity, A$1,500–5,000 — with nothing behind them.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65008" y="4800600"/>
            <a:ext cx="3456432" cy="1280160"/>
          </a:xfrm>
          <a:prstGeom prst="roundRect">
            <a:avLst>
              <a:gd name="adj" fmla="val 5000"/>
            </a:avLst>
          </a:prstGeom>
          <a:solidFill>
            <a:srgbClr val="FAF8F6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495604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5285232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commercial vendors named and none independently verified — it reads like a product recommendation.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1783080" y="411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for receipts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57800" cy="2697480"/>
          </a:xfrm>
          <a:prstGeom prst="roundRect">
            <a:avLst>
              <a:gd name="adj" fmla="val 2712"/>
            </a:avLst>
          </a:prstGeom>
          <a:solidFill>
            <a:srgbClr val="F4F1EE"/>
          </a:solidFill>
          <a:ln w="12700">
            <a:solidFill>
              <a:srgbClr val="E6E0DA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171907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ASKED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87552" y="2057400"/>
            <a:ext cx="4562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a source for every number you just used — the 15–30% reduction, the price range, the trial results. And why didn't you mention Australian regulation once?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3200400"/>
            <a:ext cx="4562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can't find a source for something, just say so. Don't give me a source that's close enough.”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257800" cy="2697480"/>
          </a:xfrm>
          <a:prstGeom prst="roundRect">
            <a:avLst>
              <a:gd name="adj" fmla="val 2712"/>
            </a:avLst>
          </a:prstGeom>
          <a:solidFill>
            <a:srgbClr val="E7E8D1"/>
          </a:solidFill>
          <a:ln w="12700">
            <a:solidFill>
              <a:srgbClr val="D8DAC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11112" y="171907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CAME BACK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11112" y="2057400"/>
            <a:ext cx="4562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claims came back with a study and a year attached. Others came back with an admission that no source existed. It also conceded it had ignored the Australian regulatory setting entirely.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CRAAP EVALUATION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3456432" cy="1280160"/>
          </a:xfrm>
          <a:prstGeom prst="roundRect">
            <a:avLst>
              <a:gd name="adj" fmla="val 5000"/>
            </a:avLst>
          </a:prstGeom>
          <a:solidFill>
            <a:srgbClr val="FAF8F6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495604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6112" y="5285232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only appeared under pressure; some numbers could not be supported at all.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52544" y="4800600"/>
            <a:ext cx="3456432" cy="1280160"/>
          </a:xfrm>
          <a:prstGeom prst="roundRect">
            <a:avLst>
              <a:gd name="adj" fmla="val 5000"/>
            </a:avLst>
          </a:prstGeom>
          <a:solidFill>
            <a:srgbClr val="FAF8F6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495604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08576" y="5285232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arrive skewed to vendors and overseas studies, not Australian regulators.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65008" y="4800600"/>
            <a:ext cx="3456432" cy="1280160"/>
          </a:xfrm>
          <a:prstGeom prst="roundRect">
            <a:avLst>
              <a:gd name="adj" fmla="val 5000"/>
            </a:avLst>
          </a:prstGeom>
          <a:solidFill>
            <a:srgbClr val="FAF8F6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495604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5285232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years surfaced only once I demanded them explicitly.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1783080" y="4114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useful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57800" cy="2697480"/>
          </a:xfrm>
          <a:prstGeom prst="roundRect">
            <a:avLst>
              <a:gd name="adj" fmla="val 2712"/>
            </a:avLst>
          </a:prstGeom>
          <a:solidFill>
            <a:srgbClr val="F4F1EE"/>
          </a:solidFill>
          <a:ln w="12700">
            <a:solidFill>
              <a:srgbClr val="E6E0DA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171907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ASKED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87552" y="2057400"/>
            <a:ext cx="45628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it together as a one-page briefing for Followmont's leadership: recommendation, cost, risks, and what they would measure.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3200400"/>
            <a:ext cx="4562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“Keep the sourcing honest… don't smooth over the gaps you just told me about.”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257800" cy="2697480"/>
          </a:xfrm>
          <a:prstGeom prst="roundRect">
            <a:avLst>
              <a:gd name="adj" fmla="val 2712"/>
            </a:avLst>
          </a:prstGeom>
          <a:solidFill>
            <a:srgbClr val="E7E8D1"/>
          </a:solidFill>
          <a:ln w="12700">
            <a:solidFill>
              <a:srgbClr val="D8DAC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11112" y="1719072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E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CAME BACK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11112" y="2057400"/>
            <a:ext cx="456285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briefing a manager could act on — recommendation, indicative cost, risks and a measurement plan — with the weak evidence still labelled weak rather than quietly dropped.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CRAAP EVALUATION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3456432" cy="1280160"/>
          </a:xfrm>
          <a:prstGeom prst="roundRect">
            <a:avLst>
              <a:gd name="adj" fmla="val 5000"/>
            </a:avLst>
          </a:prstGeom>
          <a:solidFill>
            <a:srgbClr val="FAF8F6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495604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6112" y="5285232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 persuade a board to fund a trial; the tone runs ahead of the evidence.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52544" y="4800600"/>
            <a:ext cx="3456432" cy="1280160"/>
          </a:xfrm>
          <a:prstGeom prst="roundRect">
            <a:avLst>
              <a:gd name="adj" fmla="val 5000"/>
            </a:avLst>
          </a:prstGeom>
          <a:solidFill>
            <a:srgbClr val="FAF8F6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495604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08576" y="5285232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the decision Followmont actually faces, at the length they would actually read.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65008" y="4800600"/>
            <a:ext cx="3456432" cy="1280160"/>
          </a:xfrm>
          <a:prstGeom prst="roundRect">
            <a:avLst>
              <a:gd name="adj" fmla="val 5000"/>
            </a:avLst>
          </a:prstGeom>
          <a:solidFill>
            <a:srgbClr val="FAF8F6"/>
          </a:solidFill>
          <a:ln w="12700">
            <a:solidFill>
              <a:srgbClr val="E0D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4956048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5285232"/>
            <a:ext cx="2944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stayed visible — but only because I instructed it to keep them.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it myself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44475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admitting a gap is its work, not mine — so I checked four claims myself.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0299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069080" y="20299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0" y="20299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FOUND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395728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4F1EE"/>
          </a:solidFill>
          <a:ln w="12700">
            <a:solidFill>
              <a:srgbClr val="EFE9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50592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handling is the dominant injury burden across Australian workplaces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9080" y="2450592"/>
            <a:ext cx="3063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Work Australia, Key WHS Statistics (2025 release)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2450592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4A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— body stressing was 34.5% of serious claims in 2023–24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300984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BF9F8"/>
          </a:solidFill>
          <a:ln w="12700">
            <a:solidFill>
              <a:srgbClr val="EFE9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55848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Exoskeletons cut muscle activity by 15–30%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3355848"/>
            <a:ext cx="3063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Schwartz et al. (2023), Int. J. Environ. Res. Public Health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0" y="3355848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7A6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— passive devices cut muscle activity 12–27%, but in a French laboratory, not a depot, and results varied widely between individuals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206240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4F1EE"/>
          </a:solidFill>
          <a:ln w="12700">
            <a:solidFill>
              <a:srgbClr val="EFE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61104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cost A$1,500–5,000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069080" y="4261104"/>
            <a:ext cx="3063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SpanSet Australia; Exxovantage — the AU suppliers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4261104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9A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 — neither publishes a unit price; SpanSet quotes only through a rental credited to purchase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5111496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BF9F8"/>
          </a:solidFill>
          <a:ln w="12700">
            <a:solidFill>
              <a:srgbClr val="EFE9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166360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“55+” is a single workforce group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69080" y="5166360"/>
            <a:ext cx="3063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and Skills Australia; ABS (Lecture 4)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5166360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9A3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Contradicted — participation is 69.6% at 55–64 but 16.3% at 65+: one label, two different problems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1447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Safe Work Australia (2025); Jobs and Skills Australia and ABS via BSB105 Lecture 4; SpanSet Australia and Exxovantage product pages; Schwartz et al. (2023). Full details on the references slide.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CRAAP: the final briefing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elements applied to the Prompt 5 output — the document Followmont would actually read.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4F1EE"/>
          </a:solidFill>
          <a:ln w="12700">
            <a:solidFill>
              <a:srgbClr val="EFE9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37944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697480" y="1837944"/>
            <a:ext cx="8732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briefing carries no date of its own, and years appeared only where I forced them. The exoskeleton studies I could trace run 2021–2025, straddling the post-2022 line I set.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679192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BF9F8"/>
          </a:solidFill>
          <a:ln w="12700">
            <a:solidFill>
              <a:srgbClr val="EFE9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34056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97480" y="2734056"/>
            <a:ext cx="8732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assumes the depot conditions I supplied; it verified none of them. It does answer the decision in front of the leadership team, at the length they would read.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575304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4F1EE"/>
          </a:solidFill>
          <a:ln w="12700">
            <a:solidFill>
              <a:srgbClr val="EFE9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630168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97480" y="3630168"/>
            <a:ext cx="8732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Rests on vendor material and overseas trials. No NHVR, no Safe Work Australia, no Australian regulator appears unless I name one.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471416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BF9F8"/>
          </a:solidFill>
          <a:ln w="12700">
            <a:solidFill>
              <a:srgbClr val="EFE9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52628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97480" y="4526280"/>
            <a:ext cx="8732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independently, the muscle-activity range broadly holds but the costing does not — no Australian supplier publishes a price in that band. Unsupported figures stayed in, labelled.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367528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4F1EE"/>
          </a:solidFill>
          <a:ln w="12700">
            <a:solidFill>
              <a:srgbClr val="EFE9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422392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97480" y="5422392"/>
            <a:ext cx="8732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 persuade a board to fund a trial. That is the real risk in it — a confident register applied to evidence that does not yet earn it.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CRAAP test framework: EdResearch (2022) — see references.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3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 changed how the answer sounded.</a:t>
            </a:r>
            <a:endParaRPr lang="en-US" sz="3200" dirty="0"/>
          </a:p>
          <a:p>
            <a:pPr indent="0" marL="0">
              <a:lnSpc>
                <a:spcPts val="43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Pressure changed what it could prove.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502920" cy="228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907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generic answer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" y="325526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fluent and unusable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61688" y="2697480"/>
            <a:ext cx="502920" cy="228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4361688" y="2907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specific answer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361688" y="325526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confident and still unsourced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83296" y="2697480"/>
            <a:ext cx="502920" cy="228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8083296" y="2907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7BE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direct challenge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083296" y="325526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evidence from filler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10881360" cy="2194560"/>
          </a:xfrm>
          <a:prstGeom prst="roundRect">
            <a:avLst>
              <a:gd name="adj" fmla="val 3333"/>
            </a:avLst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2793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6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TO FOLLOWMONT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51560" y="45902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Proceed — but to a measured trial, not a rollout.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51560" y="5084064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C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barrier is real and independently confirmed. The technology is not yet proven for Australian road freight — laboratory evidence from overseas, and a price range no Australian supplier supports. Trial it at one depot for six months against two measures baselined before the start: body-stressing claims and time-loss days. That turns an unproven recommendation into something Followmont can actually test.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5727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CRAAP test —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Education Research Organisation. (2022). Evaluating non-academic sources: The CRAAP test. https://www.edresearch.edu.au/guides-resources/practice-resources/evaluating-non-academic-sources-craap-test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22585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and claims data —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Work Australia. (2025). Key work health and safety statistics Australia. https://data.safeworkaustralia.gov.au/insights/key-whs-statistics-australia/latest-release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29443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participation —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and Skills Australia &amp; Australian Bureau of Statistics, as cited in BSB105 The Future Enterprise, Lecture 4 (2026). Participation rate 69.6% (55–64); 16.3% (65+).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3630168"/>
            <a:ext cx="108813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provocation —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Followmont Transport. (2026, July). Presentation to Queensland University of Technology.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40919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sources —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SpanSet Australia. OmniSuit exoskeleton. https://www.spanset.com/au-en/products/omnisuit-33654 · Exxovantage. Back exoskeletons. https://www.exxovantage.com/back-exoskeletons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777740"/>
            <a:ext cx="1088136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Exoskeleton evidence —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Schwartz, M., Desbrosses, K., Theurel, J., &amp; Mornieux, G. (2023). Biomechanical consequences of using passive and active back-support exoskeletons during different manual handling tasks. International Journal of Environmental Research and Public Health, 20(15), 6468. https://doi.org/10.3390/ijerph20156468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56875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acknowledgement —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 was used to generate all AI content analysed here, in a single conversation, August 2026. Full transcript retained and available on request.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URLs accessed 17 August 2026.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Five Prompts, One Client Problem</dc:title>
  <dc:subject>PptxGenJS Presentation</dc:subject>
  <dc:creator>Business Assessment</dc:creator>
  <cp:lastModifiedBy>Business Assessment</cp:lastModifiedBy>
  <cp:revision>1</cp:revision>
  <dcterms:created xsi:type="dcterms:W3CDTF">2026-08-17T04:21:21Z</dcterms:created>
  <dcterms:modified xsi:type="dcterms:W3CDTF">2026-08-17T04:21:21Z</dcterms:modified>
</cp:coreProperties>
</file>