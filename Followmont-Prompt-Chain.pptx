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here. One sentence on what the assessment asked for, then move 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up the client quickly. The 55+ card is the whole reason the project exists.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map slide. Everything after it is one step of this row.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why the first prompt is not about the client at 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Stress that this was on purpose. It is the control, not a mistake.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key move: blocking the tech they already run forces genuinely new reasoning.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slide that carries the argument. Slow down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the chain. Hand over to the critique you deliver verbally.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Land the argument, then move into the spoken critique.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E2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600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50" kern="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GENAI PROMPT CHAIN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2057400"/>
            <a:ext cx="84124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4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Five Prompts,</a:t>
            </a:r>
            <a:endParaRPr lang="en-US" sz="4800" dirty="0"/>
          </a:p>
          <a:p>
            <a:pPr indent="0" marL="0">
              <a:lnSpc>
                <a:spcPts val="54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Client Problem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640080" y="4251960"/>
            <a:ext cx="8778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A7BE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Followmont Transport — keeping workers aged 55 and over in the cab and on the dock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640080" y="55321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92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First-year business assessment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85800"/>
            <a:ext cx="6400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2A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client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40080" y="1828800"/>
            <a:ext cx="54864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700"/>
              </a:lnSpc>
              <a:buNone/>
            </a:pPr>
            <a:r>
              <a:rPr lang="en-US" sz="1700" dirty="0">
                <a:solidFill>
                  <a:srgbClr val="2E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Followmont Transport is a family-owned Australian road freight operator running line-haul and local delivery across regional Queensland and northern New South Wales.</a:t>
            </a:r>
            <a:endParaRPr lang="en-US" sz="1700" dirty="0"/>
          </a:p>
          <a:p>
            <a:pPr indent="0" marL="0">
              <a:lnSpc>
                <a:spcPts val="2700"/>
              </a:lnSpc>
              <a:buNone/>
            </a:pPr>
            <a:endParaRPr lang="en-US" sz="1700" dirty="0"/>
          </a:p>
          <a:p>
            <a:pPr indent="0" marL="0">
              <a:lnSpc>
                <a:spcPts val="2700"/>
              </a:lnSpc>
              <a:buNone/>
            </a:pPr>
            <a:r>
              <a:rPr lang="en-US" sz="1700" dirty="0">
                <a:solidFill>
                  <a:srgbClr val="2E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drivers and dock staff are ageing. The physical side of the job — lifting freight, climbing in and out of the cab — pushes experienced people out of operational roles before they would otherwise choose to leave.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6720840" y="1783080"/>
            <a:ext cx="4800600" cy="1024128"/>
          </a:xfrm>
          <a:prstGeom prst="roundRect">
            <a:avLst>
              <a:gd name="adj" fmla="val 7143"/>
            </a:avLst>
          </a:prstGeom>
          <a:solidFill>
            <a:srgbClr val="F4F1EE"/>
          </a:solidFill>
          <a:ln w="12700">
            <a:solidFill>
              <a:srgbClr val="E6E0DA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995160" y="1929384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B850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~1,000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9006840" y="1929384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7A7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employees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720840" y="3081528"/>
            <a:ext cx="4800600" cy="1024128"/>
          </a:xfrm>
          <a:prstGeom prst="roundRect">
            <a:avLst>
              <a:gd name="adj" fmla="val 7143"/>
            </a:avLst>
          </a:prstGeom>
          <a:solidFill>
            <a:srgbClr val="F4F1EE"/>
          </a:solidFill>
          <a:ln w="12700">
            <a:solidFill>
              <a:srgbClr val="E6E0DA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995160" y="3227832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B850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9006840" y="3227832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7A7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depots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720840" y="4379976"/>
            <a:ext cx="4800600" cy="1024128"/>
          </a:xfrm>
          <a:prstGeom prst="roundRect">
            <a:avLst>
              <a:gd name="adj" fmla="val 7143"/>
            </a:avLst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995160" y="452628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55+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9006840" y="452628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group at risk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40080" y="5623560"/>
            <a:ext cx="10881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question: how do data and technology keep these workers in the job longer?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85800"/>
            <a:ext cx="6400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2A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chain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640080" y="15087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7A7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prompts in one conversation. Each one uses the answer before it — nothing restarts.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2039112" y="2889504"/>
            <a:ext cx="1444752" cy="18288"/>
          </a:xfrm>
          <a:prstGeom prst="rect">
            <a:avLst/>
          </a:prstGeom>
          <a:solidFill>
            <a:srgbClr val="DDD6D0"/>
          </a:solidFill>
          <a:ln/>
        </p:spPr>
      </p:sp>
      <p:sp>
        <p:nvSpPr>
          <p:cNvPr id="5" name="Shape 3"/>
          <p:cNvSpPr/>
          <p:nvPr/>
        </p:nvSpPr>
        <p:spPr>
          <a:xfrm>
            <a:off x="1243584" y="2487168"/>
            <a:ext cx="822960" cy="822960"/>
          </a:xfrm>
          <a:prstGeom prst="ellipse">
            <a:avLst/>
          </a:prstGeom>
          <a:solidFill>
            <a:srgbClr val="B85042"/>
          </a:solidFill>
          <a:ln w="15875">
            <a:solidFill>
              <a:srgbClr val="B8504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43584" y="2487168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640080" y="3566160"/>
            <a:ext cx="202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E2A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 the method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566928" y="4005072"/>
            <a:ext cx="21762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7A7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Agree the rules before touching the problem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4251960" y="2889504"/>
            <a:ext cx="1444752" cy="18288"/>
          </a:xfrm>
          <a:prstGeom prst="rect">
            <a:avLst/>
          </a:prstGeom>
          <a:solidFill>
            <a:srgbClr val="DDD6D0"/>
          </a:solidFill>
          <a:ln/>
        </p:spPr>
      </p:sp>
      <p:sp>
        <p:nvSpPr>
          <p:cNvPr id="10" name="Shape 8"/>
          <p:cNvSpPr/>
          <p:nvPr/>
        </p:nvSpPr>
        <p:spPr>
          <a:xfrm>
            <a:off x="3456432" y="2487168"/>
            <a:ext cx="822960" cy="822960"/>
          </a:xfrm>
          <a:prstGeom prst="ellipse">
            <a:avLst/>
          </a:prstGeom>
          <a:solidFill>
            <a:srgbClr val="F4F1EE"/>
          </a:solidFill>
          <a:ln w="15875">
            <a:solidFill>
              <a:srgbClr val="B8504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456432" y="2487168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B850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2852928" y="3566160"/>
            <a:ext cx="202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E2A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Ask it badly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2779776" y="4005072"/>
            <a:ext cx="21762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7A7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generic question, on purpose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6464808" y="2889504"/>
            <a:ext cx="1444752" cy="18288"/>
          </a:xfrm>
          <a:prstGeom prst="rect">
            <a:avLst/>
          </a:prstGeom>
          <a:solidFill>
            <a:srgbClr val="DDD6D0"/>
          </a:solidFill>
          <a:ln/>
        </p:spPr>
      </p:sp>
      <p:sp>
        <p:nvSpPr>
          <p:cNvPr id="15" name="Shape 13"/>
          <p:cNvSpPr/>
          <p:nvPr/>
        </p:nvSpPr>
        <p:spPr>
          <a:xfrm>
            <a:off x="5669280" y="2487168"/>
            <a:ext cx="822960" cy="822960"/>
          </a:xfrm>
          <a:prstGeom prst="ellipse">
            <a:avLst/>
          </a:prstGeom>
          <a:solidFill>
            <a:srgbClr val="F4F1EE"/>
          </a:solidFill>
          <a:ln w="15875">
            <a:solidFill>
              <a:srgbClr val="B8504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669280" y="2487168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B850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5065776" y="3566160"/>
            <a:ext cx="202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E2A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 the client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992624" y="4005072"/>
            <a:ext cx="21762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7A7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operation, real constraints</a:t>
            </a:r>
            <a:endParaRPr lang="en-US" sz="1350" dirty="0"/>
          </a:p>
        </p:txBody>
      </p:sp>
      <p:sp>
        <p:nvSpPr>
          <p:cNvPr id="19" name="Shape 17"/>
          <p:cNvSpPr/>
          <p:nvPr/>
        </p:nvSpPr>
        <p:spPr>
          <a:xfrm>
            <a:off x="8677656" y="2889504"/>
            <a:ext cx="1444752" cy="18288"/>
          </a:xfrm>
          <a:prstGeom prst="rect">
            <a:avLst/>
          </a:prstGeom>
          <a:solidFill>
            <a:srgbClr val="DDD6D0"/>
          </a:solidFill>
          <a:ln/>
        </p:spPr>
      </p:sp>
      <p:sp>
        <p:nvSpPr>
          <p:cNvPr id="20" name="Shape 18"/>
          <p:cNvSpPr/>
          <p:nvPr/>
        </p:nvSpPr>
        <p:spPr>
          <a:xfrm>
            <a:off x="7882128" y="2487168"/>
            <a:ext cx="822960" cy="822960"/>
          </a:xfrm>
          <a:prstGeom prst="ellipse">
            <a:avLst/>
          </a:prstGeom>
          <a:solidFill>
            <a:srgbClr val="F4F1EE"/>
          </a:solidFill>
          <a:ln w="15875">
            <a:solidFill>
              <a:srgbClr val="B8504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882128" y="2487168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B850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900" dirty="0"/>
          </a:p>
        </p:txBody>
      </p:sp>
      <p:sp>
        <p:nvSpPr>
          <p:cNvPr id="22" name="Text 20"/>
          <p:cNvSpPr/>
          <p:nvPr/>
        </p:nvSpPr>
        <p:spPr>
          <a:xfrm>
            <a:off x="7278624" y="3566160"/>
            <a:ext cx="202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E2A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Ask for receipts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7205472" y="4005072"/>
            <a:ext cx="21762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7A7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source for every number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10094976" y="2487168"/>
            <a:ext cx="822960" cy="822960"/>
          </a:xfrm>
          <a:prstGeom prst="ellipse">
            <a:avLst/>
          </a:prstGeom>
          <a:solidFill>
            <a:srgbClr val="F4F1EE"/>
          </a:solidFill>
          <a:ln w="15875">
            <a:solidFill>
              <a:srgbClr val="B8504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094976" y="2487168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B850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1900" dirty="0"/>
          </a:p>
        </p:txBody>
      </p:sp>
      <p:sp>
        <p:nvSpPr>
          <p:cNvPr id="26" name="Text 24"/>
          <p:cNvSpPr/>
          <p:nvPr/>
        </p:nvSpPr>
        <p:spPr>
          <a:xfrm>
            <a:off x="9491472" y="3566160"/>
            <a:ext cx="202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E2A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Make it useful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9418320" y="4005072"/>
            <a:ext cx="21762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700"/>
              </a:lnSpc>
              <a:buNone/>
            </a:pPr>
            <a:r>
              <a:rPr lang="en-US" sz="1350" dirty="0">
                <a:solidFill>
                  <a:srgbClr val="7A7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page for the leadership team</a:t>
            </a:r>
            <a:endParaRPr lang="en-US" sz="1350" dirty="0"/>
          </a:p>
        </p:txBody>
      </p:sp>
      <p:sp>
        <p:nvSpPr>
          <p:cNvPr id="28" name="Shape 26"/>
          <p:cNvSpPr/>
          <p:nvPr/>
        </p:nvSpPr>
        <p:spPr>
          <a:xfrm>
            <a:off x="640080" y="5349240"/>
            <a:ext cx="10881360" cy="822960"/>
          </a:xfrm>
          <a:prstGeom prst="roundRect">
            <a:avLst>
              <a:gd name="adj" fmla="val 8889"/>
            </a:avLst>
          </a:prstGeom>
          <a:solidFill>
            <a:srgbClr val="E7E8D1"/>
          </a:solidFill>
          <a:ln/>
        </p:spPr>
      </p:sp>
      <p:sp>
        <p:nvSpPr>
          <p:cNvPr id="29" name="Text 27"/>
          <p:cNvSpPr/>
          <p:nvPr/>
        </p:nvSpPr>
        <p:spPr>
          <a:xfrm>
            <a:off x="1005840" y="5349240"/>
            <a:ext cx="10149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2E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point of the chain is the gap between the steps — what changes when you add detail, and what only changes when you ask for evidence.</a:t>
            </a:r>
            <a:endParaRPr lang="en-US" sz="15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280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B850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1828800" y="640080"/>
            <a:ext cx="9692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E2A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 the method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5257800" cy="2697480"/>
          </a:xfrm>
          <a:prstGeom prst="roundRect">
            <a:avLst>
              <a:gd name="adj" fmla="val 2712"/>
            </a:avLst>
          </a:prstGeom>
          <a:solidFill>
            <a:srgbClr val="F4F1EE"/>
          </a:solidFill>
          <a:ln w="12700">
            <a:solidFill>
              <a:srgbClr val="E6E0DA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005840" y="2423160"/>
            <a:ext cx="4526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7A7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 ASKED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1005840" y="2834640"/>
            <a:ext cx="45262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2E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the client problem: what makes a prompt well designed, what do you do badly when I ask for research with citations, and how should I sequence prompts so each builds on the last?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6263640" y="2103120"/>
            <a:ext cx="5257800" cy="2697480"/>
          </a:xfrm>
          <a:prstGeom prst="roundRect">
            <a:avLst>
              <a:gd name="adj" fmla="val 2712"/>
            </a:avLst>
          </a:prstGeom>
          <a:solidFill>
            <a:srgbClr val="E7E8D1"/>
          </a:solidFill>
          <a:ln w="12700">
            <a:solidFill>
              <a:srgbClr val="D8DAC0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629400" y="2423160"/>
            <a:ext cx="4526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6E7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CAME BACK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6629400" y="2834640"/>
            <a:ext cx="45262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2E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workable method — and an admission worth keeping: it can produce citations that look right and aren't.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640080" y="544068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rules of the game, agreed before the game starts.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280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B850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1828800" y="640080"/>
            <a:ext cx="9692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E2A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Ask it badly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5257800" cy="2697480"/>
          </a:xfrm>
          <a:prstGeom prst="roundRect">
            <a:avLst>
              <a:gd name="adj" fmla="val 2712"/>
            </a:avLst>
          </a:prstGeom>
          <a:solidFill>
            <a:srgbClr val="F4F1EE"/>
          </a:solidFill>
          <a:ln w="12700">
            <a:solidFill>
              <a:srgbClr val="E6E0DA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005840" y="2423160"/>
            <a:ext cx="4526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7A7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 ASKED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1005840" y="2834640"/>
            <a:ext cx="45262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2E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might we harness data and technology to improve the workforce participation of transport and logistics workers aged 55 and over?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6263640" y="2103120"/>
            <a:ext cx="5257800" cy="2697480"/>
          </a:xfrm>
          <a:prstGeom prst="roundRect">
            <a:avLst>
              <a:gd name="adj" fmla="val 2712"/>
            </a:avLst>
          </a:prstGeom>
          <a:solidFill>
            <a:srgbClr val="E7E8D1"/>
          </a:solidFill>
          <a:ln w="12700">
            <a:solidFill>
              <a:srgbClr val="D8DAC0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629400" y="2423160"/>
            <a:ext cx="4526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6E7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CAME BACK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6629400" y="2834640"/>
            <a:ext cx="45262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2E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interventions. No country, no client, no evidence. Perfectly reasonable and completely unusable.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640080" y="544068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baseline. Deliberately generic, so there is something to compare against.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280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B850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1828800" y="640080"/>
            <a:ext cx="9692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E2A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 the client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5257800" cy="2697480"/>
          </a:xfrm>
          <a:prstGeom prst="roundRect">
            <a:avLst>
              <a:gd name="adj" fmla="val 2712"/>
            </a:avLst>
          </a:prstGeom>
          <a:solidFill>
            <a:srgbClr val="F4F1EE"/>
          </a:solidFill>
          <a:ln w="12700">
            <a:solidFill>
              <a:srgbClr val="E6E0DA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005840" y="2423160"/>
            <a:ext cx="4526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7A7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 ASKED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1005840" y="2834640"/>
            <a:ext cx="45262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2E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is Followmont. Here is the technology they already run — don't propose it again. Pick one technology and aim it at one barrier: the physical load of the job.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6263640" y="2103120"/>
            <a:ext cx="5257800" cy="2697480"/>
          </a:xfrm>
          <a:prstGeom prst="roundRect">
            <a:avLst>
              <a:gd name="adj" fmla="val 2712"/>
            </a:avLst>
          </a:prstGeom>
          <a:solidFill>
            <a:srgbClr val="E7E8D1"/>
          </a:solidFill>
          <a:ln w="12700">
            <a:solidFill>
              <a:srgbClr val="D8DAC0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629400" y="2423160"/>
            <a:ext cx="4526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6E7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CAME BACK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6629400" y="2834640"/>
            <a:ext cx="45262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2E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Exoskeletons. Specific, confident, costed — and still not a single source.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640080" y="544068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Specificity changed the vocabulary. It did not change the evidence.</a:t>
            </a:r>
            <a:endParaRPr lang="en-US" sz="1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280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B850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1828800" y="640080"/>
            <a:ext cx="9692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E2A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Ask for receipts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5257800" cy="2697480"/>
          </a:xfrm>
          <a:prstGeom prst="roundRect">
            <a:avLst>
              <a:gd name="adj" fmla="val 2712"/>
            </a:avLst>
          </a:prstGeom>
          <a:solidFill>
            <a:srgbClr val="F4F1EE"/>
          </a:solidFill>
          <a:ln w="12700">
            <a:solidFill>
              <a:srgbClr val="E6E0DA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005840" y="2423160"/>
            <a:ext cx="4526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7A7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 ASKED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1005840" y="2834640"/>
            <a:ext cx="45262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2E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 me a source for every number you just used. If you can't find one, say so. And why didn't you mention Australian regulation once?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6263640" y="2103120"/>
            <a:ext cx="5257800" cy="2697480"/>
          </a:xfrm>
          <a:prstGeom prst="roundRect">
            <a:avLst>
              <a:gd name="adj" fmla="val 2712"/>
            </a:avLst>
          </a:prstGeom>
          <a:solidFill>
            <a:srgbClr val="E7E8D1"/>
          </a:solidFill>
          <a:ln w="12700">
            <a:solidFill>
              <a:srgbClr val="D8DAC0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629400" y="2423160"/>
            <a:ext cx="4526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6E7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CAME BACK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6629400" y="2834640"/>
            <a:ext cx="45262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2E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claims held up. Some numbers had no source behind them. The Australian gap was real and it admitted it.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640080" y="544068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Pressure is what produced the evidence — detail alone never did.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280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B8504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1828800" y="640080"/>
            <a:ext cx="9692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E2A2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Make it useful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5257800" cy="2697480"/>
          </a:xfrm>
          <a:prstGeom prst="roundRect">
            <a:avLst>
              <a:gd name="adj" fmla="val 2712"/>
            </a:avLst>
          </a:prstGeom>
          <a:solidFill>
            <a:srgbClr val="F4F1EE"/>
          </a:solidFill>
          <a:ln w="12700">
            <a:solidFill>
              <a:srgbClr val="E6E0DA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005840" y="2423160"/>
            <a:ext cx="4526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7A73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 ASKED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1005840" y="2834640"/>
            <a:ext cx="45262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2E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 it together as a one-page briefing for Followmont's leadership: recommendation, cost, risks, and what they would measure. Don't smooth over the gaps.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6263640" y="2103120"/>
            <a:ext cx="5257800" cy="2697480"/>
          </a:xfrm>
          <a:prstGeom prst="roundRect">
            <a:avLst>
              <a:gd name="adj" fmla="val 2712"/>
            </a:avLst>
          </a:prstGeom>
          <a:solidFill>
            <a:srgbClr val="E7E8D1"/>
          </a:solidFill>
          <a:ln w="12700">
            <a:solidFill>
              <a:srgbClr val="D8DAC0"/>
            </a:solidFill>
            <a:prstDash val="solid"/>
          </a:ln>
          <a:effectLst>
            <a:outerShdw sx="100000" sy="100000" kx="0" ky="0" algn="bl" rotWithShape="0" blurRad="152400" dist="25400" dir="5400000">
              <a:srgbClr val="000000">
                <a:alpha val="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629400" y="2423160"/>
            <a:ext cx="4526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200" kern="0" dirty="0">
                <a:solidFill>
                  <a:srgbClr val="6E7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CAME BACK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6629400" y="2834640"/>
            <a:ext cx="45262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700" dirty="0">
                <a:solidFill>
                  <a:srgbClr val="2E2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briefing a manager could act on, with the weak evidence still labelled as weak.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640080" y="544068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usable output that is honest about what it doesn't know.</a:t>
            </a:r>
            <a:endParaRPr lang="en-US" sz="1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E2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2344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50" kern="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CHAIN SHOWED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783080"/>
            <a:ext cx="104241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8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Detail changed how the answer sounded.</a:t>
            </a:r>
            <a:endParaRPr lang="en-US" sz="3600" dirty="0"/>
          </a:p>
          <a:p>
            <a:pPr indent="0" marL="0">
              <a:lnSpc>
                <a:spcPts val="48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Pressure changed what it could prove.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4114800"/>
            <a:ext cx="502920" cy="22860"/>
          </a:xfrm>
          <a:prstGeom prst="rect">
            <a:avLst/>
          </a:prstGeom>
          <a:solidFill>
            <a:srgbClr val="B85042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434340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7BEA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generic answer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4709160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50" dirty="0">
                <a:solidFill>
                  <a:srgbClr val="CFC7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fluent and unusable</a:t>
            </a:r>
            <a:endParaRPr lang="en-US" sz="1550" dirty="0"/>
          </a:p>
        </p:txBody>
      </p:sp>
      <p:sp>
        <p:nvSpPr>
          <p:cNvPr id="7" name="Shape 5"/>
          <p:cNvSpPr/>
          <p:nvPr/>
        </p:nvSpPr>
        <p:spPr>
          <a:xfrm>
            <a:off x="4361688" y="4114800"/>
            <a:ext cx="502920" cy="22860"/>
          </a:xfrm>
          <a:prstGeom prst="rect">
            <a:avLst/>
          </a:prstGeom>
          <a:solidFill>
            <a:srgbClr val="B85042"/>
          </a:solidFill>
          <a:ln/>
        </p:spPr>
      </p:sp>
      <p:sp>
        <p:nvSpPr>
          <p:cNvPr id="8" name="Text 6"/>
          <p:cNvSpPr/>
          <p:nvPr/>
        </p:nvSpPr>
        <p:spPr>
          <a:xfrm>
            <a:off x="4361688" y="434340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7BEA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specific answer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361688" y="4709160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50" dirty="0">
                <a:solidFill>
                  <a:srgbClr val="CFC7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 confident and still unsourced</a:t>
            </a:r>
            <a:endParaRPr lang="en-US" sz="1550" dirty="0"/>
          </a:p>
        </p:txBody>
      </p:sp>
      <p:sp>
        <p:nvSpPr>
          <p:cNvPr id="10" name="Shape 8"/>
          <p:cNvSpPr/>
          <p:nvPr/>
        </p:nvSpPr>
        <p:spPr>
          <a:xfrm>
            <a:off x="8083296" y="4114800"/>
            <a:ext cx="502920" cy="22860"/>
          </a:xfrm>
          <a:prstGeom prst="rect">
            <a:avLst/>
          </a:prstGeom>
          <a:solidFill>
            <a:srgbClr val="B85042"/>
          </a:solidFill>
          <a:ln/>
        </p:spPr>
      </p:sp>
      <p:sp>
        <p:nvSpPr>
          <p:cNvPr id="11" name="Text 9"/>
          <p:cNvSpPr/>
          <p:nvPr/>
        </p:nvSpPr>
        <p:spPr>
          <a:xfrm>
            <a:off x="8083296" y="434340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A7BEA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Only the direct challenge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083296" y="4709160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00"/>
              </a:lnSpc>
              <a:buNone/>
            </a:pPr>
            <a:r>
              <a:rPr lang="en-US" sz="1550" dirty="0">
                <a:solidFill>
                  <a:srgbClr val="CFC7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separated the evidence from the filler</a:t>
            </a:r>
            <a:endParaRPr lang="en-US" sz="15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Five Prompts, One Client Problem</dc:title>
  <dc:subject>PptxGenJS Presentation</dc:subject>
  <dc:creator>Business Assessment</dc:creator>
  <cp:lastModifiedBy>Business Assessment</cp:lastModifiedBy>
  <cp:revision>1</cp:revision>
  <dcterms:created xsi:type="dcterms:W3CDTF">2026-08-15T05:14:39Z</dcterms:created>
  <dcterms:modified xsi:type="dcterms:W3CDTF">2026-08-15T05:14:39Z</dcterms:modified>
</cp:coreProperties>
</file>