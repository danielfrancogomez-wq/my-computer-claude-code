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[0:00-0:10]  TITLE - identify yourself, then move.
“Hi, I'm Daniel Franco Gomez, student number n12854468. This is Assignment 1 for BSB105, The Future Enterprise - an oral critique of AI-generated content, built around a real client problem from Followmont Transport.”
CUE: Do not explain the deck or preview your argument. Name it and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[0:10-0:25]  AGENDA - four words, then one flag.
“Four parts. Purpose, prompts, CRAAP, conclusion.
One thing to flag up front: CRAAP isn't a section at the end. It runs through every single prompt slide - Currency, Relevance, Authority, Accuracy and Purpose, applied at every step of the chain.”
CUE: Gesture at item 3 as you say it. Don't read the four descriptions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[0:25-1:25]  CLIENT - one sentence, the provocation verbatim, then the participation point.
“Followmont Transport is a family-owned Australian road freight operator - around a thousand people, twenty-six depots, line-haul and local delivery across regional Queensland and northern New South Wales.
Their workforce is ageing, and the physical side of the job - lifting freight, climbing in and out of the cab - pushes experienced people out before they're ready to go.
Here is their provocation, word for word:
'How might we harness data and technology to improve the workforce participation of transport and logistics workers aged fifty-five and over?'
Notice the word participation. That's wider than retention. Retention is keeping the people you already have. Participation also covers who can get in, who can stay, and who can come back. Hold onto that - it becomes one of my findings later, because the AI quietly narrowed it.”
CUE: Slow down for the quote. It is the client's wording, not yours - that's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[1:25-1:45]  THE CHAIN - this is a map. Do not explain any step yet.
“This is the map. Five prompts, one conversation, nothing restarted.
Set the method. Ask it badly. Add the client. Ask for receipts. Make it useful.
I'm not going to explain them yet - because the interesting part isn't any single prompt. It's what changed between them.”
CUE: Name the five fast, in rhythm. Resist the urge to elaborate - every step gets its own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[1:45-2:25]  PROMPT 01 - why the first prompt isn't about the client. CRAAP point: AUTHORITY.
“Prompt one isn't about Followmont at all. Before I gave it a client, I wanted to know what I was working with - what makes a prompt well designed, what it does badly when I ask for research with citations, and how to sequence prompts so each builds on the last.
The line that did the work is on screen. I made it disclose where its answer came from. And it told me: most of its advice came from vendor guides, and from describing itself.
That's my Authority finding. It isn't independent research. It's the companies that sell these tools, plus the tool talking about its own behaviour.”
CUE: Read the blue quote aloud. Say Authority out loud - name the element.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[2:25-3:05]  PROMPT 02 - this was deliberate. It's the control. CRAAP point: RELEVANCE.
“This one looks lazy. It isn't.
This is the client's question asked cold - no country, no company, no constraints, no source demand. That was deliberate. This is my control.
Six interventions came back: ergonomic wearables, predictive fatigue management, workforce analytics, knowledge capture, adaptive interfaces, phased retirement.
Relevance: none of it is specific to Australia, to road freight, or to Followmont. It's a perfectly reasonable answer to nobody's question.
But without this slide I have nothing to compare the next one against.”
CUE: Land 'that was deliberate' clearly - a marker must not read this as a weak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[3:05-3:50]  PROMPT 03 - the key move is blocking their existing tech. CRAAP point: ACCURACY.
“Now I give it the real client - and here's the move that matters. I named the technology Followmont already runs and blocked it. It can't recommend what they've already bought, so it has to actually reason about this operation.
Two constraints, and I'll read them both:
'Name something specific enough that I could search for vendors.'
'Where your evidence comes from outside Australia, say so.'
It came back with exoskeletons. Five vendors. A price range. A full case.
Accuracy: exact figures - fifteen to thirty percent muscle activity, fifteen hundred to five thousand dollars - with nothing behind them. The detail went up. The evidence didn't.”
CUE: Both quotes aloud, they demonstrate prompt craft. Land the last sentence hard.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[3:50-4:35]  PROMPT 04 - the turn. Permission to fail is what produced honesty. CRAAP point: ACCURACY.
“This is the turn in the whole chain.
I asked for a source behind every number. And critically, I gave it permission to fail:
'If you can't find a source for something, just say so. Don't give me a source that's close enough.'
That line is what produced honesty. Some claims came back with a study and a year attached. Others came back with an admission that no source existed at all. And it conceded it had ignored Australian regulation completely.
Accuracy again: it only gave sources when I pushed. Adding detail in prompt three didn't do it. Pressure did.”
CUE: Slowest slide in the deck. This is the argument - give it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[4:35-5:10]  PROMPT 05 - close the chain. Honesty had to be asked for.
“Last prompt: make it usable. One page for Followmont's leadership - recommendation, rough cost, risks, and what they'd measure.
And I told it not to smooth over the gaps it had just admitted to me. It didn't. The weak evidence stayed labelled weak.
But notice what that means. I had to ask. Across all five prompts, honesty was never volunteered - every single time, it had to be requested.”
CUE: 'I had to ask' is the line. Pause after it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[5:10-6:10]  CHECKING IT MYSELF - your work, not the AI's. Rows 3 and 4 in full.
“Everything so far is the AI admitting things. That's its work, not mine. So I checked four of its claims myself.
The first two quickly. Manual handling: confirmed - Safe Work Australia puts body stressing at thirty-four and a half percent of serious claims. The muscle-activity figure: overstated - the study says twelve to twenty-seven percent, not fifteen to thirty, and it's a French laboratory, not a depot.
Row three, the price. Fifteen hundred to five thousand dollars. I checked both Australian suppliers, SpanSet and Exxovantage. Neither publishes a price at all - SpanSet only quotes through a rental that credits toward purchase. So that number isn't just unsourced. It's unsupported.
And row four. The AI treated fifty-five plus as one group. The Australian data doesn't. Participation is sixty-nine point six percent at fifty-five to sixty-four - and sixteen point three percent at sixty-five plus. One label. Two completely different problems.”
CUE: This slide is your HD evidence. Rows 1-2 gestured at, 3-4 spoken in full. End on 'two different problems' and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[6:10-7:10]  CRAAP ON THE FINAL BRIEFING - all five named. Slow on Authority and Purpose.
“Now all five elements, applied to the final briefing - the document Followmont would actually read.
Currency: it has no date of its own, and years only appeared when I pushed. The one study I could trace is from 2023.
Relevance: it assumes the depot conditions I gave it, and verified none of them.
Authority - this is the important one. It's built on vendor material and overseas trials. No NHVR. No Safe Work Australia. No Australian regulator appears anywhere unless I name it first. For a question about Australian road freight, that's a serious gap.
Accuracy: the muscle-activity range was overstated, and the costing failed completely.
And Purpose. This is written to persuade a board to fund a trial. That's the real risk in it - it sounds certain about evidence that isn't strong enough yet. Fluency is not reliability.”
CUE: Name each element before its finding. Slow deliberately on Authority and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[7:10-7:55]  CONCLUSION - the two-line finding, then the recommendation and its conditions.
“So: detail changed how the answer sounded. Pressure changed what it could prove.
The generic answer was fluent and unusable. The specific answer was confident and still unsourced. Only the direct challenge separated evidence from filler.
My recommendation to Followmont: proceed - but to a trial, not a rollout. The barrier is real; I confirmed that myself. The technology isn't proven here - the evidence comes from overseas labs, and no Australian supplier supports the price range.
So: one depot, six months, and two measures recorded before it starts - body-stressing claims and time-loss days. That turns an unproven recommendation into something Followmont can actually test.”
CUE: This is your last spoken slide. Land the recommendation and the two measures, then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[7:55-end]  REFERENCES - silence.
Say nothing. Leave the slide up for three to five seconds and end the recording.
CUE: Do not read references aloud. Do not add a thank-you or a sign-off ramble - the recommendation on slide 12 is your ending. If asked, the AI transcript is retained and available on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338"/>
        </a:solidFill>
      </p:bgPr>
    </p:bg>
    <p:spTree>
      <p:nvGrpSpPr>
        <p:cNvPr id="1" name=""/>
        <p:cNvGrpSpPr/>
        <p:nvPr/>
      </p:nvGrpSpPr>
      <p:grpSpPr>
        <a:xfrm>
          <a:off x="0" y="0"/>
          <a:ext cx="0" cy="0"/>
          <a:chOff x="0" y="0"/>
          <a:chExt cx="0" cy="0"/>
        </a:xfrm>
      </p:grpSpPr>
      <p:sp>
        <p:nvSpPr>
          <p:cNvPr id="2" name="Text 0"/>
          <p:cNvSpPr/>
          <p:nvPr/>
        </p:nvSpPr>
        <p:spPr>
          <a:xfrm>
            <a:off x="640080" y="1600200"/>
            <a:ext cx="8229600" cy="274320"/>
          </a:xfrm>
          <a:prstGeom prst="rect">
            <a:avLst/>
          </a:prstGeom>
          <a:noFill/>
          <a:ln/>
        </p:spPr>
        <p:txBody>
          <a:bodyPr wrap="square" lIns="0" tIns="0" rIns="0" bIns="0" rtlCol="0" anchor="ctr"/>
          <a:lstStyle/>
          <a:p>
            <a:pPr indent="0" marL="0">
              <a:buNone/>
            </a:pPr>
            <a:r>
              <a:rPr lang="en-US" sz="1300" b="1" spc="250" kern="0" dirty="0">
                <a:solidFill>
                  <a:srgbClr val="5B9BD5"/>
                </a:solidFill>
                <a:latin typeface="Calibri" pitchFamily="34" charset="0"/>
                <a:ea typeface="Calibri" pitchFamily="34" charset="-122"/>
                <a:cs typeface="Calibri" pitchFamily="34" charset="-120"/>
              </a:rPr>
              <a:t>GENAI PROMPT CHAIN &amp; CRAAP EVALUATION</a:t>
            </a:r>
            <a:endParaRPr lang="en-US" sz="1300" dirty="0"/>
          </a:p>
        </p:txBody>
      </p:sp>
      <p:sp>
        <p:nvSpPr>
          <p:cNvPr id="3" name="Text 1"/>
          <p:cNvSpPr/>
          <p:nvPr/>
        </p:nvSpPr>
        <p:spPr>
          <a:xfrm>
            <a:off x="640080" y="2057400"/>
            <a:ext cx="8412480" cy="1920240"/>
          </a:xfrm>
          <a:prstGeom prst="rect">
            <a:avLst/>
          </a:prstGeom>
          <a:noFill/>
          <a:ln/>
        </p:spPr>
        <p:txBody>
          <a:bodyPr wrap="square" lIns="0" tIns="0" rIns="0" bIns="0" rtlCol="0" anchor="ctr"/>
          <a:lstStyle/>
          <a:p>
            <a:pPr indent="0" marL="0">
              <a:lnSpc>
                <a:spcPts val="5400"/>
              </a:lnSpc>
              <a:buNone/>
            </a:pPr>
            <a:r>
              <a:rPr lang="en-US" sz="4800" b="1" dirty="0">
                <a:solidFill>
                  <a:srgbClr val="FFFFFF"/>
                </a:solidFill>
                <a:latin typeface="Cambria" pitchFamily="34" charset="0"/>
                <a:ea typeface="Cambria" pitchFamily="34" charset="-122"/>
                <a:cs typeface="Cambria" pitchFamily="34" charset="-120"/>
              </a:rPr>
              <a:t>Five Prompts,</a:t>
            </a:r>
            <a:endParaRPr lang="en-US" sz="4800" dirty="0"/>
          </a:p>
          <a:p>
            <a:pPr indent="0" marL="0">
              <a:lnSpc>
                <a:spcPts val="5400"/>
              </a:lnSpc>
              <a:buNone/>
            </a:pPr>
            <a:r>
              <a:rPr lang="en-US" sz="4800" b="1" dirty="0">
                <a:solidFill>
                  <a:srgbClr val="FFFFFF"/>
                </a:solidFill>
                <a:latin typeface="Cambria" pitchFamily="34" charset="0"/>
                <a:ea typeface="Cambria" pitchFamily="34" charset="-122"/>
                <a:cs typeface="Cambria" pitchFamily="34" charset="-120"/>
              </a:rPr>
              <a:t>One Client Problem</a:t>
            </a:r>
            <a:endParaRPr lang="en-US" sz="4800" dirty="0"/>
          </a:p>
        </p:txBody>
      </p:sp>
      <p:sp>
        <p:nvSpPr>
          <p:cNvPr id="4" name="Text 2"/>
          <p:cNvSpPr/>
          <p:nvPr/>
        </p:nvSpPr>
        <p:spPr>
          <a:xfrm>
            <a:off x="640080" y="4251960"/>
            <a:ext cx="8778240" cy="457200"/>
          </a:xfrm>
          <a:prstGeom prst="rect">
            <a:avLst/>
          </a:prstGeom>
          <a:noFill/>
          <a:ln/>
        </p:spPr>
        <p:txBody>
          <a:bodyPr wrap="square" lIns="0" tIns="0" rIns="0" bIns="0" rtlCol="0" anchor="ctr"/>
          <a:lstStyle/>
          <a:p>
            <a:pPr indent="0" marL="0">
              <a:buNone/>
            </a:pPr>
            <a:r>
              <a:rPr lang="en-US" sz="1700" dirty="0">
                <a:solidFill>
                  <a:srgbClr val="A9C4DC"/>
                </a:solidFill>
                <a:latin typeface="Calibri" pitchFamily="34" charset="0"/>
                <a:ea typeface="Calibri" pitchFamily="34" charset="-122"/>
                <a:cs typeface="Calibri" pitchFamily="34" charset="-120"/>
              </a:rPr>
              <a:t>Followmont Transport — keeping workers aged 55 and over in the cab and on the dock</a:t>
            </a:r>
            <a:endParaRPr lang="en-US" sz="1700" dirty="0"/>
          </a:p>
        </p:txBody>
      </p:sp>
      <p:sp>
        <p:nvSpPr>
          <p:cNvPr id="5" name="Text 3"/>
          <p:cNvSpPr/>
          <p:nvPr/>
        </p:nvSpPr>
        <p:spPr>
          <a:xfrm>
            <a:off x="640080" y="5349240"/>
            <a:ext cx="7315200" cy="320040"/>
          </a:xfrm>
          <a:prstGeom prst="rect">
            <a:avLst/>
          </a:prstGeom>
          <a:noFill/>
          <a:ln/>
        </p:spPr>
        <p:txBody>
          <a:bodyPr wrap="square" lIns="0" tIns="0" rIns="0" bIns="0" rtlCol="0" anchor="ctr"/>
          <a:lstStyle/>
          <a:p>
            <a:pPr indent="0" marL="0">
              <a:buNone/>
            </a:pPr>
            <a:r>
              <a:rPr lang="en-US" sz="1400" b="1" dirty="0">
                <a:solidFill>
                  <a:srgbClr val="B9C6D4"/>
                </a:solidFill>
                <a:latin typeface="Calibri" pitchFamily="34" charset="0"/>
                <a:ea typeface="Calibri" pitchFamily="34" charset="-122"/>
                <a:cs typeface="Calibri" pitchFamily="34" charset="-120"/>
              </a:rPr>
              <a:t>Daniel Franco Gomez  ·  n12854468</a:t>
            </a:r>
            <a:endParaRPr lang="en-US" sz="1400" dirty="0"/>
          </a:p>
        </p:txBody>
      </p:sp>
      <p:sp>
        <p:nvSpPr>
          <p:cNvPr id="6" name="Text 4"/>
          <p:cNvSpPr/>
          <p:nvPr/>
        </p:nvSpPr>
        <p:spPr>
          <a:xfrm>
            <a:off x="640080" y="5715000"/>
            <a:ext cx="9601200" cy="320040"/>
          </a:xfrm>
          <a:prstGeom prst="rect">
            <a:avLst/>
          </a:prstGeom>
          <a:noFill/>
          <a:ln/>
        </p:spPr>
        <p:txBody>
          <a:bodyPr wrap="square" lIns="0" tIns="0" rIns="0" bIns="0" rtlCol="0" anchor="ctr"/>
          <a:lstStyle/>
          <a:p>
            <a:pPr indent="0" marL="0">
              <a:buNone/>
            </a:pPr>
            <a:r>
              <a:rPr lang="en-US" sz="1300" dirty="0">
                <a:solidFill>
                  <a:srgbClr val="8496A8"/>
                </a:solidFill>
                <a:latin typeface="Calibri" pitchFamily="34" charset="0"/>
                <a:ea typeface="Calibri" pitchFamily="34" charset="-122"/>
                <a:cs typeface="Calibri" pitchFamily="34" charset="-120"/>
              </a:rPr>
              <a:t>BSB105 The Future Enterprise  ·  Assignment 1: Oral Critique of AI-generated Content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85800"/>
            <a:ext cx="6400800" cy="685800"/>
          </a:xfrm>
          <a:prstGeom prst="rect">
            <a:avLst/>
          </a:prstGeom>
          <a:noFill/>
          <a:ln/>
        </p:spPr>
        <p:txBody>
          <a:bodyPr wrap="square" lIns="0" tIns="0" rIns="0" bIns="0" rtlCol="0" anchor="ctr"/>
          <a:lstStyle/>
          <a:p>
            <a:pPr indent="0" marL="0">
              <a:buNone/>
            </a:pPr>
            <a:r>
              <a:rPr lang="en-US" sz="4000" b="1" dirty="0">
                <a:solidFill>
                  <a:srgbClr val="16212E"/>
                </a:solidFill>
                <a:latin typeface="Cambria" pitchFamily="34" charset="0"/>
                <a:ea typeface="Cambria" pitchFamily="34" charset="-122"/>
                <a:cs typeface="Cambria" pitchFamily="34" charset="-120"/>
              </a:rPr>
              <a:t>Agenda</a:t>
            </a:r>
            <a:endParaRPr lang="en-US" sz="4000" dirty="0"/>
          </a:p>
        </p:txBody>
      </p:sp>
      <p:sp>
        <p:nvSpPr>
          <p:cNvPr id="3" name="Shape 1"/>
          <p:cNvSpPr/>
          <p:nvPr/>
        </p:nvSpPr>
        <p:spPr>
          <a:xfrm>
            <a:off x="640080" y="1828800"/>
            <a:ext cx="658368" cy="658368"/>
          </a:xfrm>
          <a:prstGeom prst="ellipse">
            <a:avLst/>
          </a:prstGeom>
          <a:solidFill>
            <a:srgbClr val="F2F5F8"/>
          </a:solidFill>
          <a:ln w="15875">
            <a:solidFill>
              <a:srgbClr val="1D5C9B"/>
            </a:solidFill>
            <a:prstDash val="solid"/>
          </a:ln>
        </p:spPr>
      </p:sp>
      <p:sp>
        <p:nvSpPr>
          <p:cNvPr id="4" name="Text 2"/>
          <p:cNvSpPr/>
          <p:nvPr/>
        </p:nvSpPr>
        <p:spPr>
          <a:xfrm>
            <a:off x="640080" y="1828800"/>
            <a:ext cx="658368" cy="658368"/>
          </a:xfrm>
          <a:prstGeom prst="rect">
            <a:avLst/>
          </a:prstGeom>
          <a:noFill/>
          <a:ln/>
        </p:spPr>
        <p:txBody>
          <a:bodyPr wrap="square" lIns="0" tIns="0" rIns="0" bIns="0" rtlCol="0" anchor="ctr"/>
          <a:lstStyle/>
          <a:p>
            <a:pPr algn="ctr" indent="0" marL="0">
              <a:buNone/>
            </a:pPr>
            <a:r>
              <a:rPr lang="en-US" sz="1900" b="1" dirty="0">
                <a:solidFill>
                  <a:srgbClr val="1D5C9B"/>
                </a:solidFill>
                <a:latin typeface="Cambria" pitchFamily="34" charset="0"/>
                <a:ea typeface="Cambria" pitchFamily="34" charset="-122"/>
                <a:cs typeface="Cambria" pitchFamily="34" charset="-120"/>
              </a:rPr>
              <a:t>1</a:t>
            </a:r>
            <a:endParaRPr lang="en-US" sz="1900" dirty="0"/>
          </a:p>
        </p:txBody>
      </p:sp>
      <p:sp>
        <p:nvSpPr>
          <p:cNvPr id="5" name="Text 3"/>
          <p:cNvSpPr/>
          <p:nvPr/>
        </p:nvSpPr>
        <p:spPr>
          <a:xfrm>
            <a:off x="1600200" y="1801368"/>
            <a:ext cx="2377440" cy="411480"/>
          </a:xfrm>
          <a:prstGeom prst="rect">
            <a:avLst/>
          </a:prstGeom>
          <a:noFill/>
          <a:ln/>
        </p:spPr>
        <p:txBody>
          <a:bodyPr wrap="square" lIns="0" tIns="0" rIns="0" bIns="0" rtlCol="0" anchor="ctr"/>
          <a:lstStyle/>
          <a:p>
            <a:pPr indent="0" marL="0">
              <a:buNone/>
            </a:pPr>
            <a:r>
              <a:rPr lang="en-US" sz="2100" b="1" dirty="0">
                <a:solidFill>
                  <a:srgbClr val="16212E"/>
                </a:solidFill>
                <a:latin typeface="Cambria" pitchFamily="34" charset="0"/>
                <a:ea typeface="Cambria" pitchFamily="34" charset="-122"/>
                <a:cs typeface="Cambria" pitchFamily="34" charset="-120"/>
              </a:rPr>
              <a:t>Purpose</a:t>
            </a:r>
            <a:endParaRPr lang="en-US" sz="2100" dirty="0"/>
          </a:p>
        </p:txBody>
      </p:sp>
      <p:sp>
        <p:nvSpPr>
          <p:cNvPr id="6" name="Text 4"/>
          <p:cNvSpPr/>
          <p:nvPr/>
        </p:nvSpPr>
        <p:spPr>
          <a:xfrm>
            <a:off x="4114800" y="1801368"/>
            <a:ext cx="7406640" cy="685800"/>
          </a:xfrm>
          <a:prstGeom prst="rect">
            <a:avLst/>
          </a:prstGeom>
          <a:noFill/>
          <a:ln/>
        </p:spPr>
        <p:txBody>
          <a:bodyPr wrap="square" lIns="0" tIns="0" rIns="0" bIns="0" rtlCol="0" anchor="ctr"/>
          <a:lstStyle/>
          <a:p>
            <a:pPr indent="0" marL="0">
              <a:lnSpc>
                <a:spcPts val="2100"/>
              </a:lnSpc>
              <a:buNone/>
            </a:pPr>
            <a:r>
              <a:rPr lang="en-US" sz="1550" dirty="0">
                <a:solidFill>
                  <a:srgbClr val="6B7787"/>
                </a:solidFill>
                <a:latin typeface="Calibri" pitchFamily="34" charset="0"/>
                <a:ea typeface="Calibri" pitchFamily="34" charset="-122"/>
                <a:cs typeface="Calibri" pitchFamily="34" charset="-120"/>
              </a:rPr>
              <a:t>The client, the problem, and what I set out to test</a:t>
            </a:r>
            <a:endParaRPr lang="en-US" sz="1550" dirty="0"/>
          </a:p>
        </p:txBody>
      </p:sp>
      <p:sp>
        <p:nvSpPr>
          <p:cNvPr id="7" name="Shape 5"/>
          <p:cNvSpPr/>
          <p:nvPr/>
        </p:nvSpPr>
        <p:spPr>
          <a:xfrm>
            <a:off x="640080" y="2926080"/>
            <a:ext cx="658368" cy="658368"/>
          </a:xfrm>
          <a:prstGeom prst="ellipse">
            <a:avLst/>
          </a:prstGeom>
          <a:solidFill>
            <a:srgbClr val="F2F5F8"/>
          </a:solidFill>
          <a:ln w="15875">
            <a:solidFill>
              <a:srgbClr val="1D5C9B"/>
            </a:solidFill>
            <a:prstDash val="solid"/>
          </a:ln>
        </p:spPr>
      </p:sp>
      <p:sp>
        <p:nvSpPr>
          <p:cNvPr id="8" name="Text 6"/>
          <p:cNvSpPr/>
          <p:nvPr/>
        </p:nvSpPr>
        <p:spPr>
          <a:xfrm>
            <a:off x="640080" y="2926080"/>
            <a:ext cx="658368" cy="658368"/>
          </a:xfrm>
          <a:prstGeom prst="rect">
            <a:avLst/>
          </a:prstGeom>
          <a:noFill/>
          <a:ln/>
        </p:spPr>
        <p:txBody>
          <a:bodyPr wrap="square" lIns="0" tIns="0" rIns="0" bIns="0" rtlCol="0" anchor="ctr"/>
          <a:lstStyle/>
          <a:p>
            <a:pPr algn="ctr" indent="0" marL="0">
              <a:buNone/>
            </a:pPr>
            <a:r>
              <a:rPr lang="en-US" sz="1900" b="1" dirty="0">
                <a:solidFill>
                  <a:srgbClr val="1D5C9B"/>
                </a:solidFill>
                <a:latin typeface="Cambria" pitchFamily="34" charset="0"/>
                <a:ea typeface="Cambria" pitchFamily="34" charset="-122"/>
                <a:cs typeface="Cambria" pitchFamily="34" charset="-120"/>
              </a:rPr>
              <a:t>2</a:t>
            </a:r>
            <a:endParaRPr lang="en-US" sz="1900" dirty="0"/>
          </a:p>
        </p:txBody>
      </p:sp>
      <p:sp>
        <p:nvSpPr>
          <p:cNvPr id="9" name="Text 7"/>
          <p:cNvSpPr/>
          <p:nvPr/>
        </p:nvSpPr>
        <p:spPr>
          <a:xfrm>
            <a:off x="1600200" y="2898648"/>
            <a:ext cx="2377440" cy="411480"/>
          </a:xfrm>
          <a:prstGeom prst="rect">
            <a:avLst/>
          </a:prstGeom>
          <a:noFill/>
          <a:ln/>
        </p:spPr>
        <p:txBody>
          <a:bodyPr wrap="square" lIns="0" tIns="0" rIns="0" bIns="0" rtlCol="0" anchor="ctr"/>
          <a:lstStyle/>
          <a:p>
            <a:pPr indent="0" marL="0">
              <a:buNone/>
            </a:pPr>
            <a:r>
              <a:rPr lang="en-US" sz="2100" b="1" dirty="0">
                <a:solidFill>
                  <a:srgbClr val="16212E"/>
                </a:solidFill>
                <a:latin typeface="Cambria" pitchFamily="34" charset="0"/>
                <a:ea typeface="Cambria" pitchFamily="34" charset="-122"/>
                <a:cs typeface="Cambria" pitchFamily="34" charset="-120"/>
              </a:rPr>
              <a:t>Prompts</a:t>
            </a:r>
            <a:endParaRPr lang="en-US" sz="2100" dirty="0"/>
          </a:p>
        </p:txBody>
      </p:sp>
      <p:sp>
        <p:nvSpPr>
          <p:cNvPr id="10" name="Text 8"/>
          <p:cNvSpPr/>
          <p:nvPr/>
        </p:nvSpPr>
        <p:spPr>
          <a:xfrm>
            <a:off x="4114800" y="2898648"/>
            <a:ext cx="7406640" cy="685800"/>
          </a:xfrm>
          <a:prstGeom prst="rect">
            <a:avLst/>
          </a:prstGeom>
          <a:noFill/>
          <a:ln/>
        </p:spPr>
        <p:txBody>
          <a:bodyPr wrap="square" lIns="0" tIns="0" rIns="0" bIns="0" rtlCol="0" anchor="ctr"/>
          <a:lstStyle/>
          <a:p>
            <a:pPr indent="0" marL="0">
              <a:lnSpc>
                <a:spcPts val="2100"/>
              </a:lnSpc>
              <a:buNone/>
            </a:pPr>
            <a:r>
              <a:rPr lang="en-US" sz="1550" dirty="0">
                <a:solidFill>
                  <a:srgbClr val="6B7787"/>
                </a:solidFill>
                <a:latin typeface="Calibri" pitchFamily="34" charset="0"/>
                <a:ea typeface="Calibri" pitchFamily="34" charset="-122"/>
                <a:cs typeface="Calibri" pitchFamily="34" charset="-120"/>
              </a:rPr>
              <a:t>A chain of five, each building on the answer before it</a:t>
            </a:r>
            <a:endParaRPr lang="en-US" sz="1550" dirty="0"/>
          </a:p>
        </p:txBody>
      </p:sp>
      <p:sp>
        <p:nvSpPr>
          <p:cNvPr id="11" name="Shape 9"/>
          <p:cNvSpPr/>
          <p:nvPr/>
        </p:nvSpPr>
        <p:spPr>
          <a:xfrm>
            <a:off x="640080" y="4023360"/>
            <a:ext cx="658368" cy="658368"/>
          </a:xfrm>
          <a:prstGeom prst="ellipse">
            <a:avLst/>
          </a:prstGeom>
          <a:solidFill>
            <a:srgbClr val="1D5C9B"/>
          </a:solidFill>
          <a:ln w="15875">
            <a:solidFill>
              <a:srgbClr val="1D5C9B"/>
            </a:solidFill>
            <a:prstDash val="solid"/>
          </a:ln>
        </p:spPr>
      </p:sp>
      <p:sp>
        <p:nvSpPr>
          <p:cNvPr id="12" name="Text 10"/>
          <p:cNvSpPr/>
          <p:nvPr/>
        </p:nvSpPr>
        <p:spPr>
          <a:xfrm>
            <a:off x="640080" y="4023360"/>
            <a:ext cx="658368" cy="658368"/>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13" name="Text 11"/>
          <p:cNvSpPr/>
          <p:nvPr/>
        </p:nvSpPr>
        <p:spPr>
          <a:xfrm>
            <a:off x="1600200" y="3995928"/>
            <a:ext cx="2377440" cy="411480"/>
          </a:xfrm>
          <a:prstGeom prst="rect">
            <a:avLst/>
          </a:prstGeom>
          <a:noFill/>
          <a:ln/>
        </p:spPr>
        <p:txBody>
          <a:bodyPr wrap="square" lIns="0" tIns="0" rIns="0" bIns="0" rtlCol="0" anchor="ctr"/>
          <a:lstStyle/>
          <a:p>
            <a:pPr indent="0" marL="0">
              <a:buNone/>
            </a:pPr>
            <a:r>
              <a:rPr lang="en-US" sz="2100" b="1" dirty="0">
                <a:solidFill>
                  <a:srgbClr val="16212E"/>
                </a:solidFill>
                <a:latin typeface="Cambria" pitchFamily="34" charset="0"/>
                <a:ea typeface="Cambria" pitchFamily="34" charset="-122"/>
                <a:cs typeface="Cambria" pitchFamily="34" charset="-120"/>
              </a:rPr>
              <a:t>CRAAP</a:t>
            </a:r>
            <a:endParaRPr lang="en-US" sz="2100" dirty="0"/>
          </a:p>
        </p:txBody>
      </p:sp>
      <p:sp>
        <p:nvSpPr>
          <p:cNvPr id="14" name="Text 12"/>
          <p:cNvSpPr/>
          <p:nvPr/>
        </p:nvSpPr>
        <p:spPr>
          <a:xfrm>
            <a:off x="4114800" y="3995928"/>
            <a:ext cx="7406640" cy="685800"/>
          </a:xfrm>
          <a:prstGeom prst="rect">
            <a:avLst/>
          </a:prstGeom>
          <a:noFill/>
          <a:ln/>
        </p:spPr>
        <p:txBody>
          <a:bodyPr wrap="square" lIns="0" tIns="0" rIns="0" bIns="0" rtlCol="0" anchor="ctr"/>
          <a:lstStyle/>
          <a:p>
            <a:pPr indent="0" marL="0">
              <a:lnSpc>
                <a:spcPts val="2100"/>
              </a:lnSpc>
              <a:buNone/>
            </a:pPr>
            <a:r>
              <a:rPr lang="en-US" sz="1550" dirty="0">
                <a:solidFill>
                  <a:srgbClr val="6B7787"/>
                </a:solidFill>
                <a:latin typeface="Calibri" pitchFamily="34" charset="0"/>
                <a:ea typeface="Calibri" pitchFamily="34" charset="-122"/>
                <a:cs typeface="Calibri" pitchFamily="34" charset="-120"/>
              </a:rPr>
              <a:t>Currency, Relevance, Authority, Accuracy, Purpose — applied at every step</a:t>
            </a:r>
            <a:endParaRPr lang="en-US" sz="1550" dirty="0"/>
          </a:p>
        </p:txBody>
      </p:sp>
      <p:sp>
        <p:nvSpPr>
          <p:cNvPr id="15" name="Shape 13"/>
          <p:cNvSpPr/>
          <p:nvPr/>
        </p:nvSpPr>
        <p:spPr>
          <a:xfrm>
            <a:off x="640080" y="5120640"/>
            <a:ext cx="658368" cy="658368"/>
          </a:xfrm>
          <a:prstGeom prst="ellipse">
            <a:avLst/>
          </a:prstGeom>
          <a:solidFill>
            <a:srgbClr val="F2F5F8"/>
          </a:solidFill>
          <a:ln w="15875">
            <a:solidFill>
              <a:srgbClr val="1D5C9B"/>
            </a:solidFill>
            <a:prstDash val="solid"/>
          </a:ln>
        </p:spPr>
      </p:sp>
      <p:sp>
        <p:nvSpPr>
          <p:cNvPr id="16" name="Text 14"/>
          <p:cNvSpPr/>
          <p:nvPr/>
        </p:nvSpPr>
        <p:spPr>
          <a:xfrm>
            <a:off x="640080" y="5120640"/>
            <a:ext cx="658368" cy="658368"/>
          </a:xfrm>
          <a:prstGeom prst="rect">
            <a:avLst/>
          </a:prstGeom>
          <a:noFill/>
          <a:ln/>
        </p:spPr>
        <p:txBody>
          <a:bodyPr wrap="square" lIns="0" tIns="0" rIns="0" bIns="0" rtlCol="0" anchor="ctr"/>
          <a:lstStyle/>
          <a:p>
            <a:pPr algn="ctr" indent="0" marL="0">
              <a:buNone/>
            </a:pPr>
            <a:r>
              <a:rPr lang="en-US" sz="1900" b="1" dirty="0">
                <a:solidFill>
                  <a:srgbClr val="1D5C9B"/>
                </a:solidFill>
                <a:latin typeface="Cambria" pitchFamily="34" charset="0"/>
                <a:ea typeface="Cambria" pitchFamily="34" charset="-122"/>
                <a:cs typeface="Cambria" pitchFamily="34" charset="-120"/>
              </a:rPr>
              <a:t>4</a:t>
            </a:r>
            <a:endParaRPr lang="en-US" sz="1900" dirty="0"/>
          </a:p>
        </p:txBody>
      </p:sp>
      <p:sp>
        <p:nvSpPr>
          <p:cNvPr id="17" name="Text 15"/>
          <p:cNvSpPr/>
          <p:nvPr/>
        </p:nvSpPr>
        <p:spPr>
          <a:xfrm>
            <a:off x="1600200" y="5093208"/>
            <a:ext cx="2377440" cy="411480"/>
          </a:xfrm>
          <a:prstGeom prst="rect">
            <a:avLst/>
          </a:prstGeom>
          <a:noFill/>
          <a:ln/>
        </p:spPr>
        <p:txBody>
          <a:bodyPr wrap="square" lIns="0" tIns="0" rIns="0" bIns="0" rtlCol="0" anchor="ctr"/>
          <a:lstStyle/>
          <a:p>
            <a:pPr indent="0" marL="0">
              <a:buNone/>
            </a:pPr>
            <a:r>
              <a:rPr lang="en-US" sz="2100" b="1" dirty="0">
                <a:solidFill>
                  <a:srgbClr val="16212E"/>
                </a:solidFill>
                <a:latin typeface="Cambria" pitchFamily="34" charset="0"/>
                <a:ea typeface="Cambria" pitchFamily="34" charset="-122"/>
                <a:cs typeface="Cambria" pitchFamily="34" charset="-120"/>
              </a:rPr>
              <a:t>Conclusion</a:t>
            </a:r>
            <a:endParaRPr lang="en-US" sz="2100" dirty="0"/>
          </a:p>
        </p:txBody>
      </p:sp>
      <p:sp>
        <p:nvSpPr>
          <p:cNvPr id="18" name="Text 16"/>
          <p:cNvSpPr/>
          <p:nvPr/>
        </p:nvSpPr>
        <p:spPr>
          <a:xfrm>
            <a:off x="4114800" y="5093208"/>
            <a:ext cx="7406640" cy="685800"/>
          </a:xfrm>
          <a:prstGeom prst="rect">
            <a:avLst/>
          </a:prstGeom>
          <a:noFill/>
          <a:ln/>
        </p:spPr>
        <p:txBody>
          <a:bodyPr wrap="square" lIns="0" tIns="0" rIns="0" bIns="0" rtlCol="0" anchor="ctr"/>
          <a:lstStyle/>
          <a:p>
            <a:pPr indent="0" marL="0">
              <a:lnSpc>
                <a:spcPts val="2100"/>
              </a:lnSpc>
              <a:buNone/>
            </a:pPr>
            <a:r>
              <a:rPr lang="en-US" sz="1550" dirty="0">
                <a:solidFill>
                  <a:srgbClr val="6B7787"/>
                </a:solidFill>
                <a:latin typeface="Calibri" pitchFamily="34" charset="0"/>
                <a:ea typeface="Calibri" pitchFamily="34" charset="-122"/>
                <a:cs typeface="Calibri" pitchFamily="34" charset="-120"/>
              </a:rPr>
              <a:t>What I checked myself, and what I recommend to Followmont</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85800"/>
            <a:ext cx="6400800" cy="685800"/>
          </a:xfrm>
          <a:prstGeom prst="rect">
            <a:avLst/>
          </a:prstGeom>
          <a:noFill/>
          <a:ln/>
        </p:spPr>
        <p:txBody>
          <a:bodyPr wrap="square" lIns="0" tIns="0" rIns="0" bIns="0" rtlCol="0" anchor="ctr"/>
          <a:lstStyle/>
          <a:p>
            <a:pPr indent="0" marL="0">
              <a:buNone/>
            </a:pPr>
            <a:r>
              <a:rPr lang="en-US" sz="4000" b="1" dirty="0">
                <a:solidFill>
                  <a:srgbClr val="16212E"/>
                </a:solidFill>
                <a:latin typeface="Cambria" pitchFamily="34" charset="0"/>
                <a:ea typeface="Cambria" pitchFamily="34" charset="-122"/>
                <a:cs typeface="Cambria" pitchFamily="34" charset="-120"/>
              </a:rPr>
              <a:t>The client</a:t>
            </a:r>
            <a:endParaRPr lang="en-US" sz="4000" dirty="0"/>
          </a:p>
        </p:txBody>
      </p:sp>
      <p:sp>
        <p:nvSpPr>
          <p:cNvPr id="3" name="Text 1"/>
          <p:cNvSpPr/>
          <p:nvPr/>
        </p:nvSpPr>
        <p:spPr>
          <a:xfrm>
            <a:off x="640080" y="1828800"/>
            <a:ext cx="5486400" cy="3291840"/>
          </a:xfrm>
          <a:prstGeom prst="rect">
            <a:avLst/>
          </a:prstGeom>
          <a:noFill/>
          <a:ln/>
        </p:spPr>
        <p:txBody>
          <a:bodyPr wrap="square" lIns="0" tIns="0" rIns="0" bIns="0" rtlCol="0" anchor="t"/>
          <a:lstStyle/>
          <a:p>
            <a:pPr indent="0" marL="0">
              <a:lnSpc>
                <a:spcPts val="2700"/>
              </a:lnSpc>
              <a:buNone/>
            </a:pPr>
            <a:r>
              <a:rPr lang="en-US" sz="1700" dirty="0">
                <a:solidFill>
                  <a:srgbClr val="16212E"/>
                </a:solidFill>
                <a:latin typeface="Calibri" pitchFamily="34" charset="0"/>
                <a:ea typeface="Calibri" pitchFamily="34" charset="-122"/>
                <a:cs typeface="Calibri" pitchFamily="34" charset="-120"/>
              </a:rPr>
              <a:t>Followmont Transport is a family-owned Australian road freight operator running line-haul and local delivery across regional Queensland and northern New South Wales.</a:t>
            </a:r>
            <a:endParaRPr lang="en-US" sz="1700" dirty="0"/>
          </a:p>
          <a:p>
            <a:pPr indent="0" marL="0">
              <a:lnSpc>
                <a:spcPts val="2700"/>
              </a:lnSpc>
              <a:buNone/>
            </a:pPr>
            <a:endParaRPr lang="en-US" sz="1700" dirty="0"/>
          </a:p>
          <a:p>
            <a:pPr indent="0" marL="0">
              <a:lnSpc>
                <a:spcPts val="2700"/>
              </a:lnSpc>
              <a:buNone/>
            </a:pPr>
            <a:r>
              <a:rPr lang="en-US" sz="1700" dirty="0">
                <a:solidFill>
                  <a:srgbClr val="16212E"/>
                </a:solidFill>
                <a:latin typeface="Calibri" pitchFamily="34" charset="0"/>
                <a:ea typeface="Calibri" pitchFamily="34" charset="-122"/>
                <a:cs typeface="Calibri" pitchFamily="34" charset="-120"/>
              </a:rPr>
              <a:t>Its drivers and dock staff are ageing. The physical side of the job — lifting freight, climbing in and out of the cab — pushes experienced people out of the job before they're ready to go.</a:t>
            </a:r>
            <a:endParaRPr lang="en-US" sz="1700" dirty="0"/>
          </a:p>
        </p:txBody>
      </p:sp>
      <p:sp>
        <p:nvSpPr>
          <p:cNvPr id="4" name="Shape 2"/>
          <p:cNvSpPr/>
          <p:nvPr/>
        </p:nvSpPr>
        <p:spPr>
          <a:xfrm>
            <a:off x="6720840" y="1691640"/>
            <a:ext cx="4800600" cy="1024128"/>
          </a:xfrm>
          <a:prstGeom prst="roundRect">
            <a:avLst>
              <a:gd name="adj" fmla="val 7143"/>
            </a:avLst>
          </a:prstGeom>
          <a:solidFill>
            <a:srgbClr val="F2F5F8"/>
          </a:solidFill>
          <a:ln w="12700">
            <a:solidFill>
              <a:srgbClr val="E1E8EF"/>
            </a:solidFill>
            <a:prstDash val="solid"/>
          </a:ln>
          <a:effectLst>
            <a:outerShdw sx="100000" sy="100000" kx="0" ky="0" algn="bl" rotWithShape="0" blurRad="152400" dist="25400" dir="5400000">
              <a:srgbClr val="000000">
                <a:alpha val="8000"/>
              </a:srgbClr>
            </a:outerShdw>
          </a:effectLst>
        </p:spPr>
      </p:sp>
      <p:sp>
        <p:nvSpPr>
          <p:cNvPr id="5" name="Text 3"/>
          <p:cNvSpPr/>
          <p:nvPr/>
        </p:nvSpPr>
        <p:spPr>
          <a:xfrm>
            <a:off x="6995160" y="1837944"/>
            <a:ext cx="2011680" cy="731520"/>
          </a:xfrm>
          <a:prstGeom prst="rect">
            <a:avLst/>
          </a:prstGeom>
          <a:noFill/>
          <a:ln/>
        </p:spPr>
        <p:txBody>
          <a:bodyPr wrap="square" lIns="0" tIns="0" rIns="0" bIns="0" rtlCol="0" anchor="ctr"/>
          <a:lstStyle/>
          <a:p>
            <a:pPr indent="0" marL="0">
              <a:buNone/>
            </a:pPr>
            <a:r>
              <a:rPr lang="en-US" sz="3400" b="1" dirty="0">
                <a:solidFill>
                  <a:srgbClr val="1D5C9B"/>
                </a:solidFill>
                <a:latin typeface="Cambria" pitchFamily="34" charset="0"/>
                <a:ea typeface="Cambria" pitchFamily="34" charset="-122"/>
                <a:cs typeface="Cambria" pitchFamily="34" charset="-120"/>
              </a:rPr>
              <a:t>~1,000</a:t>
            </a:r>
            <a:endParaRPr lang="en-US" sz="3400" dirty="0"/>
          </a:p>
        </p:txBody>
      </p:sp>
      <p:sp>
        <p:nvSpPr>
          <p:cNvPr id="6" name="Text 4"/>
          <p:cNvSpPr/>
          <p:nvPr/>
        </p:nvSpPr>
        <p:spPr>
          <a:xfrm>
            <a:off x="9006840" y="1837944"/>
            <a:ext cx="2286000" cy="731520"/>
          </a:xfrm>
          <a:prstGeom prst="rect">
            <a:avLst/>
          </a:prstGeom>
          <a:noFill/>
          <a:ln/>
        </p:spPr>
        <p:txBody>
          <a:bodyPr wrap="square" lIns="0" tIns="0" rIns="0" bIns="0" rtlCol="0" anchor="ctr"/>
          <a:lstStyle/>
          <a:p>
            <a:pPr algn="r" indent="0" marL="0">
              <a:buNone/>
            </a:pPr>
            <a:r>
              <a:rPr lang="en-US" sz="1400" dirty="0">
                <a:solidFill>
                  <a:srgbClr val="6B7787"/>
                </a:solidFill>
                <a:latin typeface="Calibri" pitchFamily="34" charset="0"/>
                <a:ea typeface="Calibri" pitchFamily="34" charset="-122"/>
                <a:cs typeface="Calibri" pitchFamily="34" charset="-120"/>
              </a:rPr>
              <a:t>employees</a:t>
            </a:r>
            <a:endParaRPr lang="en-US" sz="1400" dirty="0"/>
          </a:p>
        </p:txBody>
      </p:sp>
      <p:sp>
        <p:nvSpPr>
          <p:cNvPr id="7" name="Shape 5"/>
          <p:cNvSpPr/>
          <p:nvPr/>
        </p:nvSpPr>
        <p:spPr>
          <a:xfrm>
            <a:off x="6720840" y="2862072"/>
            <a:ext cx="4800600" cy="1024128"/>
          </a:xfrm>
          <a:prstGeom prst="roundRect">
            <a:avLst>
              <a:gd name="adj" fmla="val 7143"/>
            </a:avLst>
          </a:prstGeom>
          <a:solidFill>
            <a:srgbClr val="F2F5F8"/>
          </a:solidFill>
          <a:ln w="12700">
            <a:solidFill>
              <a:srgbClr val="E1E8EF"/>
            </a:solidFill>
            <a:prstDash val="solid"/>
          </a:ln>
          <a:effectLst>
            <a:outerShdw sx="100000" sy="100000" kx="0" ky="0" algn="bl" rotWithShape="0" blurRad="152400" dist="25400" dir="5400000">
              <a:srgbClr val="000000">
                <a:alpha val="8000"/>
              </a:srgbClr>
            </a:outerShdw>
          </a:effectLst>
        </p:spPr>
      </p:sp>
      <p:sp>
        <p:nvSpPr>
          <p:cNvPr id="8" name="Text 6"/>
          <p:cNvSpPr/>
          <p:nvPr/>
        </p:nvSpPr>
        <p:spPr>
          <a:xfrm>
            <a:off x="6995160" y="3008376"/>
            <a:ext cx="2011680" cy="731520"/>
          </a:xfrm>
          <a:prstGeom prst="rect">
            <a:avLst/>
          </a:prstGeom>
          <a:noFill/>
          <a:ln/>
        </p:spPr>
        <p:txBody>
          <a:bodyPr wrap="square" lIns="0" tIns="0" rIns="0" bIns="0" rtlCol="0" anchor="ctr"/>
          <a:lstStyle/>
          <a:p>
            <a:pPr indent="0" marL="0">
              <a:buNone/>
            </a:pPr>
            <a:r>
              <a:rPr lang="en-US" sz="3400" b="1" dirty="0">
                <a:solidFill>
                  <a:srgbClr val="1D5C9B"/>
                </a:solidFill>
                <a:latin typeface="Cambria" pitchFamily="34" charset="0"/>
                <a:ea typeface="Cambria" pitchFamily="34" charset="-122"/>
                <a:cs typeface="Cambria" pitchFamily="34" charset="-120"/>
              </a:rPr>
              <a:t>26</a:t>
            </a:r>
            <a:endParaRPr lang="en-US" sz="3400" dirty="0"/>
          </a:p>
        </p:txBody>
      </p:sp>
      <p:sp>
        <p:nvSpPr>
          <p:cNvPr id="9" name="Text 7"/>
          <p:cNvSpPr/>
          <p:nvPr/>
        </p:nvSpPr>
        <p:spPr>
          <a:xfrm>
            <a:off x="9006840" y="3008376"/>
            <a:ext cx="2286000" cy="731520"/>
          </a:xfrm>
          <a:prstGeom prst="rect">
            <a:avLst/>
          </a:prstGeom>
          <a:noFill/>
          <a:ln/>
        </p:spPr>
        <p:txBody>
          <a:bodyPr wrap="square" lIns="0" tIns="0" rIns="0" bIns="0" rtlCol="0" anchor="ctr"/>
          <a:lstStyle/>
          <a:p>
            <a:pPr algn="r" indent="0" marL="0">
              <a:buNone/>
            </a:pPr>
            <a:r>
              <a:rPr lang="en-US" sz="1400" dirty="0">
                <a:solidFill>
                  <a:srgbClr val="6B7787"/>
                </a:solidFill>
                <a:latin typeface="Calibri" pitchFamily="34" charset="0"/>
                <a:ea typeface="Calibri" pitchFamily="34" charset="-122"/>
                <a:cs typeface="Calibri" pitchFamily="34" charset="-120"/>
              </a:rPr>
              <a:t>depots</a:t>
            </a:r>
            <a:endParaRPr lang="en-US" sz="1400" dirty="0"/>
          </a:p>
        </p:txBody>
      </p:sp>
      <p:sp>
        <p:nvSpPr>
          <p:cNvPr id="10" name="Shape 8"/>
          <p:cNvSpPr/>
          <p:nvPr/>
        </p:nvSpPr>
        <p:spPr>
          <a:xfrm>
            <a:off x="6720840" y="4032504"/>
            <a:ext cx="4800600" cy="1024128"/>
          </a:xfrm>
          <a:prstGeom prst="roundRect">
            <a:avLst>
              <a:gd name="adj" fmla="val 7143"/>
            </a:avLst>
          </a:prstGeom>
          <a:solidFill>
            <a:srgbClr val="1D5C9B"/>
          </a:solidFill>
          <a:ln w="12700">
            <a:solidFill>
              <a:srgbClr val="1D5C9B"/>
            </a:solidFill>
            <a:prstDash val="solid"/>
          </a:ln>
          <a:effectLst>
            <a:outerShdw sx="100000" sy="100000" kx="0" ky="0" algn="bl" rotWithShape="0" blurRad="152400" dist="25400" dir="5400000">
              <a:srgbClr val="000000">
                <a:alpha val="8000"/>
              </a:srgbClr>
            </a:outerShdw>
          </a:effectLst>
        </p:spPr>
      </p:sp>
      <p:sp>
        <p:nvSpPr>
          <p:cNvPr id="11" name="Text 9"/>
          <p:cNvSpPr/>
          <p:nvPr/>
        </p:nvSpPr>
        <p:spPr>
          <a:xfrm>
            <a:off x="6995160" y="4178808"/>
            <a:ext cx="201168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55+</a:t>
            </a:r>
            <a:endParaRPr lang="en-US" sz="3400" dirty="0"/>
          </a:p>
        </p:txBody>
      </p:sp>
      <p:sp>
        <p:nvSpPr>
          <p:cNvPr id="12" name="Text 10"/>
          <p:cNvSpPr/>
          <p:nvPr/>
        </p:nvSpPr>
        <p:spPr>
          <a:xfrm>
            <a:off x="9006840" y="4178808"/>
            <a:ext cx="2286000" cy="731520"/>
          </a:xfrm>
          <a:prstGeom prst="rect">
            <a:avLst/>
          </a:prstGeom>
          <a:noFill/>
          <a:ln/>
        </p:spPr>
        <p:txBody>
          <a:bodyPr wrap="square" lIns="0" tIns="0" rIns="0" bIns="0" rtlCol="0" anchor="ctr"/>
          <a:lstStyle/>
          <a:p>
            <a:pPr algn="r" indent="0" marL="0">
              <a:buNone/>
            </a:pPr>
            <a:r>
              <a:rPr lang="en-US" sz="1400" dirty="0">
                <a:solidFill>
                  <a:srgbClr val="FFFFFF"/>
                </a:solidFill>
                <a:latin typeface="Calibri" pitchFamily="34" charset="0"/>
                <a:ea typeface="Calibri" pitchFamily="34" charset="-122"/>
                <a:cs typeface="Calibri" pitchFamily="34" charset="-120"/>
              </a:rPr>
              <a:t>the group at risk</a:t>
            </a:r>
            <a:endParaRPr lang="en-US" sz="1400" dirty="0"/>
          </a:p>
        </p:txBody>
      </p:sp>
      <p:sp>
        <p:nvSpPr>
          <p:cNvPr id="13" name="Shape 11"/>
          <p:cNvSpPr/>
          <p:nvPr/>
        </p:nvSpPr>
        <p:spPr>
          <a:xfrm>
            <a:off x="640080" y="5230368"/>
            <a:ext cx="10881360" cy="1115568"/>
          </a:xfrm>
          <a:prstGeom prst="roundRect">
            <a:avLst>
              <a:gd name="adj" fmla="val 6557"/>
            </a:avLst>
          </a:prstGeom>
          <a:solidFill>
            <a:srgbClr val="DCE6F0"/>
          </a:solidFill>
          <a:ln/>
        </p:spPr>
      </p:sp>
      <p:sp>
        <p:nvSpPr>
          <p:cNvPr id="14" name="Text 12"/>
          <p:cNvSpPr/>
          <p:nvPr/>
        </p:nvSpPr>
        <p:spPr>
          <a:xfrm>
            <a:off x="1005840" y="5394960"/>
            <a:ext cx="10149840" cy="621792"/>
          </a:xfrm>
          <a:prstGeom prst="rect">
            <a:avLst/>
          </a:prstGeom>
          <a:noFill/>
          <a:ln/>
        </p:spPr>
        <p:txBody>
          <a:bodyPr wrap="square" lIns="0" tIns="0" rIns="0" bIns="0" rtlCol="0" anchor="t"/>
          <a:lstStyle/>
          <a:p>
            <a:pPr indent="0" marL="0">
              <a:lnSpc>
                <a:spcPts val="2200"/>
              </a:lnSpc>
              <a:buNone/>
            </a:pPr>
            <a:r>
              <a:rPr lang="en-US" sz="1600" b="1" i="1" dirty="0">
                <a:solidFill>
                  <a:srgbClr val="1C3D5C"/>
                </a:solidFill>
                <a:latin typeface="Calibri" pitchFamily="34" charset="0"/>
                <a:ea typeface="Calibri" pitchFamily="34" charset="-122"/>
                <a:cs typeface="Calibri" pitchFamily="34" charset="-120"/>
              </a:rPr>
              <a:t>“How might we harness data and technology to improve the workforce participation of transport and logistics workers aged 55 and over?”</a:t>
            </a:r>
            <a:endParaRPr lang="en-US" sz="1600" dirty="0"/>
          </a:p>
        </p:txBody>
      </p:sp>
      <p:sp>
        <p:nvSpPr>
          <p:cNvPr id="15" name="Text 13"/>
          <p:cNvSpPr/>
          <p:nvPr/>
        </p:nvSpPr>
        <p:spPr>
          <a:xfrm>
            <a:off x="1005840" y="5989320"/>
            <a:ext cx="10149840" cy="274320"/>
          </a:xfrm>
          <a:prstGeom prst="rect">
            <a:avLst/>
          </a:prstGeom>
          <a:noFill/>
          <a:ln/>
        </p:spPr>
        <p:txBody>
          <a:bodyPr wrap="square" lIns="0" tIns="0" rIns="0" bIns="0" rtlCol="0" anchor="ctr"/>
          <a:lstStyle/>
          <a:p>
            <a:pPr indent="0" marL="0">
              <a:buNone/>
            </a:pPr>
            <a:r>
              <a:rPr lang="en-US" sz="1150" dirty="0">
                <a:solidFill>
                  <a:srgbClr val="5A748E"/>
                </a:solidFill>
                <a:latin typeface="Calibri" pitchFamily="34" charset="0"/>
                <a:ea typeface="Calibri" pitchFamily="34" charset="-122"/>
                <a:cs typeface="Calibri" pitchFamily="34" charset="-120"/>
              </a:rPr>
              <a:t>Followmont Transport, presentation to QUT, July 2026</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85800"/>
            <a:ext cx="6400800" cy="685800"/>
          </a:xfrm>
          <a:prstGeom prst="rect">
            <a:avLst/>
          </a:prstGeom>
          <a:noFill/>
          <a:ln/>
        </p:spPr>
        <p:txBody>
          <a:bodyPr wrap="square" lIns="0" tIns="0" rIns="0" bIns="0" rtlCol="0" anchor="ctr"/>
          <a:lstStyle/>
          <a:p>
            <a:pPr indent="0" marL="0">
              <a:buNone/>
            </a:pPr>
            <a:r>
              <a:rPr lang="en-US" sz="4000" b="1" dirty="0">
                <a:solidFill>
                  <a:srgbClr val="16212E"/>
                </a:solidFill>
                <a:latin typeface="Cambria" pitchFamily="34" charset="0"/>
                <a:ea typeface="Cambria" pitchFamily="34" charset="-122"/>
                <a:cs typeface="Cambria" pitchFamily="34" charset="-120"/>
              </a:rPr>
              <a:t>The chain</a:t>
            </a:r>
            <a:endParaRPr lang="en-US" sz="4000" dirty="0"/>
          </a:p>
        </p:txBody>
      </p:sp>
      <p:sp>
        <p:nvSpPr>
          <p:cNvPr id="3" name="Text 1"/>
          <p:cNvSpPr/>
          <p:nvPr/>
        </p:nvSpPr>
        <p:spPr>
          <a:xfrm>
            <a:off x="640080" y="1508760"/>
            <a:ext cx="10515600" cy="365760"/>
          </a:xfrm>
          <a:prstGeom prst="rect">
            <a:avLst/>
          </a:prstGeom>
          <a:noFill/>
          <a:ln/>
        </p:spPr>
        <p:txBody>
          <a:bodyPr wrap="square" lIns="0" tIns="0" rIns="0" bIns="0" rtlCol="0" anchor="ctr"/>
          <a:lstStyle/>
          <a:p>
            <a:pPr indent="0" marL="0">
              <a:buNone/>
            </a:pPr>
            <a:r>
              <a:rPr lang="en-US" sz="1700" dirty="0">
                <a:solidFill>
                  <a:srgbClr val="6B7787"/>
                </a:solidFill>
                <a:latin typeface="Calibri" pitchFamily="34" charset="0"/>
                <a:ea typeface="Calibri" pitchFamily="34" charset="-122"/>
                <a:cs typeface="Calibri" pitchFamily="34" charset="-120"/>
              </a:rPr>
              <a:t>Five prompts in one conversation. Each one uses the answer before it — nothing restarts.</a:t>
            </a:r>
            <a:endParaRPr lang="en-US" sz="1700" dirty="0"/>
          </a:p>
        </p:txBody>
      </p:sp>
      <p:sp>
        <p:nvSpPr>
          <p:cNvPr id="4" name="Shape 2"/>
          <p:cNvSpPr/>
          <p:nvPr/>
        </p:nvSpPr>
        <p:spPr>
          <a:xfrm>
            <a:off x="2039112" y="2889504"/>
            <a:ext cx="1444752" cy="18288"/>
          </a:xfrm>
          <a:prstGeom prst="rect">
            <a:avLst/>
          </a:prstGeom>
          <a:solidFill>
            <a:srgbClr val="D2DDE7"/>
          </a:solidFill>
          <a:ln/>
        </p:spPr>
      </p:sp>
      <p:sp>
        <p:nvSpPr>
          <p:cNvPr id="5" name="Shape 3"/>
          <p:cNvSpPr/>
          <p:nvPr/>
        </p:nvSpPr>
        <p:spPr>
          <a:xfrm>
            <a:off x="1243584" y="2487168"/>
            <a:ext cx="822960" cy="822960"/>
          </a:xfrm>
          <a:prstGeom prst="ellipse">
            <a:avLst/>
          </a:prstGeom>
          <a:solidFill>
            <a:srgbClr val="1D5C9B"/>
          </a:solidFill>
          <a:ln w="15875">
            <a:solidFill>
              <a:srgbClr val="1D5C9B"/>
            </a:solidFill>
            <a:prstDash val="solid"/>
          </a:ln>
        </p:spPr>
      </p:sp>
      <p:sp>
        <p:nvSpPr>
          <p:cNvPr id="6" name="Text 4"/>
          <p:cNvSpPr/>
          <p:nvPr/>
        </p:nvSpPr>
        <p:spPr>
          <a:xfrm>
            <a:off x="1243584" y="2487168"/>
            <a:ext cx="822960" cy="82296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01</a:t>
            </a:r>
            <a:endParaRPr lang="en-US" sz="1900" dirty="0"/>
          </a:p>
        </p:txBody>
      </p:sp>
      <p:sp>
        <p:nvSpPr>
          <p:cNvPr id="7" name="Text 5"/>
          <p:cNvSpPr/>
          <p:nvPr/>
        </p:nvSpPr>
        <p:spPr>
          <a:xfrm>
            <a:off x="640080" y="3566160"/>
            <a:ext cx="2029968" cy="365760"/>
          </a:xfrm>
          <a:prstGeom prst="rect">
            <a:avLst/>
          </a:prstGeom>
          <a:noFill/>
          <a:ln/>
        </p:spPr>
        <p:txBody>
          <a:bodyPr wrap="square" lIns="0" tIns="0" rIns="0" bIns="0" rtlCol="0" anchor="ctr"/>
          <a:lstStyle/>
          <a:p>
            <a:pPr algn="ctr" indent="0" marL="0">
              <a:buNone/>
            </a:pPr>
            <a:r>
              <a:rPr lang="en-US" sz="1700" b="1" dirty="0">
                <a:solidFill>
                  <a:srgbClr val="16212E"/>
                </a:solidFill>
                <a:latin typeface="Cambria" pitchFamily="34" charset="0"/>
                <a:ea typeface="Cambria" pitchFamily="34" charset="-122"/>
                <a:cs typeface="Cambria" pitchFamily="34" charset="-120"/>
              </a:rPr>
              <a:t>Set the method</a:t>
            </a:r>
            <a:endParaRPr lang="en-US" sz="1700" dirty="0"/>
          </a:p>
        </p:txBody>
      </p:sp>
      <p:sp>
        <p:nvSpPr>
          <p:cNvPr id="8" name="Text 6"/>
          <p:cNvSpPr/>
          <p:nvPr/>
        </p:nvSpPr>
        <p:spPr>
          <a:xfrm>
            <a:off x="566928" y="4005072"/>
            <a:ext cx="2176272" cy="914400"/>
          </a:xfrm>
          <a:prstGeom prst="rect">
            <a:avLst/>
          </a:prstGeom>
          <a:noFill/>
          <a:ln/>
        </p:spPr>
        <p:txBody>
          <a:bodyPr wrap="square" lIns="0" tIns="0" rIns="0" bIns="0" rtlCol="0" anchor="t"/>
          <a:lstStyle/>
          <a:p>
            <a:pPr algn="ctr" indent="0" marL="0">
              <a:lnSpc>
                <a:spcPts val="1700"/>
              </a:lnSpc>
              <a:buNone/>
            </a:pPr>
            <a:r>
              <a:rPr lang="en-US" sz="1350" dirty="0">
                <a:solidFill>
                  <a:srgbClr val="6B7787"/>
                </a:solidFill>
                <a:latin typeface="Calibri" pitchFamily="34" charset="0"/>
                <a:ea typeface="Calibri" pitchFamily="34" charset="-122"/>
                <a:cs typeface="Calibri" pitchFamily="34" charset="-120"/>
              </a:rPr>
              <a:t>Agree the rules before touching the problem</a:t>
            </a:r>
            <a:endParaRPr lang="en-US" sz="1350" dirty="0"/>
          </a:p>
        </p:txBody>
      </p:sp>
      <p:sp>
        <p:nvSpPr>
          <p:cNvPr id="9" name="Shape 7"/>
          <p:cNvSpPr/>
          <p:nvPr/>
        </p:nvSpPr>
        <p:spPr>
          <a:xfrm>
            <a:off x="4251960" y="2889504"/>
            <a:ext cx="1444752" cy="18288"/>
          </a:xfrm>
          <a:prstGeom prst="rect">
            <a:avLst/>
          </a:prstGeom>
          <a:solidFill>
            <a:srgbClr val="D2DDE7"/>
          </a:solidFill>
          <a:ln/>
        </p:spPr>
      </p:sp>
      <p:sp>
        <p:nvSpPr>
          <p:cNvPr id="10" name="Shape 8"/>
          <p:cNvSpPr/>
          <p:nvPr/>
        </p:nvSpPr>
        <p:spPr>
          <a:xfrm>
            <a:off x="3456432" y="2487168"/>
            <a:ext cx="822960" cy="822960"/>
          </a:xfrm>
          <a:prstGeom prst="ellipse">
            <a:avLst/>
          </a:prstGeom>
          <a:solidFill>
            <a:srgbClr val="F2F5F8"/>
          </a:solidFill>
          <a:ln w="15875">
            <a:solidFill>
              <a:srgbClr val="1D5C9B"/>
            </a:solidFill>
            <a:prstDash val="solid"/>
          </a:ln>
        </p:spPr>
      </p:sp>
      <p:sp>
        <p:nvSpPr>
          <p:cNvPr id="11" name="Text 9"/>
          <p:cNvSpPr/>
          <p:nvPr/>
        </p:nvSpPr>
        <p:spPr>
          <a:xfrm>
            <a:off x="3456432" y="2487168"/>
            <a:ext cx="822960" cy="822960"/>
          </a:xfrm>
          <a:prstGeom prst="rect">
            <a:avLst/>
          </a:prstGeom>
          <a:noFill/>
          <a:ln/>
        </p:spPr>
        <p:txBody>
          <a:bodyPr wrap="square" lIns="0" tIns="0" rIns="0" bIns="0" rtlCol="0" anchor="ctr"/>
          <a:lstStyle/>
          <a:p>
            <a:pPr algn="ctr" indent="0" marL="0">
              <a:buNone/>
            </a:pPr>
            <a:r>
              <a:rPr lang="en-US" sz="1900" b="1" dirty="0">
                <a:solidFill>
                  <a:srgbClr val="1D5C9B"/>
                </a:solidFill>
                <a:latin typeface="Cambria" pitchFamily="34" charset="0"/>
                <a:ea typeface="Cambria" pitchFamily="34" charset="-122"/>
                <a:cs typeface="Cambria" pitchFamily="34" charset="-120"/>
              </a:rPr>
              <a:t>02</a:t>
            </a:r>
            <a:endParaRPr lang="en-US" sz="1900" dirty="0"/>
          </a:p>
        </p:txBody>
      </p:sp>
      <p:sp>
        <p:nvSpPr>
          <p:cNvPr id="12" name="Text 10"/>
          <p:cNvSpPr/>
          <p:nvPr/>
        </p:nvSpPr>
        <p:spPr>
          <a:xfrm>
            <a:off x="2852928" y="3566160"/>
            <a:ext cx="2029968" cy="365760"/>
          </a:xfrm>
          <a:prstGeom prst="rect">
            <a:avLst/>
          </a:prstGeom>
          <a:noFill/>
          <a:ln/>
        </p:spPr>
        <p:txBody>
          <a:bodyPr wrap="square" lIns="0" tIns="0" rIns="0" bIns="0" rtlCol="0" anchor="ctr"/>
          <a:lstStyle/>
          <a:p>
            <a:pPr algn="ctr" indent="0" marL="0">
              <a:buNone/>
            </a:pPr>
            <a:r>
              <a:rPr lang="en-US" sz="1700" b="1" dirty="0">
                <a:solidFill>
                  <a:srgbClr val="16212E"/>
                </a:solidFill>
                <a:latin typeface="Cambria" pitchFamily="34" charset="0"/>
                <a:ea typeface="Cambria" pitchFamily="34" charset="-122"/>
                <a:cs typeface="Cambria" pitchFamily="34" charset="-120"/>
              </a:rPr>
              <a:t>Ask it badly</a:t>
            </a:r>
            <a:endParaRPr lang="en-US" sz="1700" dirty="0"/>
          </a:p>
        </p:txBody>
      </p:sp>
      <p:sp>
        <p:nvSpPr>
          <p:cNvPr id="13" name="Text 11"/>
          <p:cNvSpPr/>
          <p:nvPr/>
        </p:nvSpPr>
        <p:spPr>
          <a:xfrm>
            <a:off x="2779776" y="4005072"/>
            <a:ext cx="2176272" cy="914400"/>
          </a:xfrm>
          <a:prstGeom prst="rect">
            <a:avLst/>
          </a:prstGeom>
          <a:noFill/>
          <a:ln/>
        </p:spPr>
        <p:txBody>
          <a:bodyPr wrap="square" lIns="0" tIns="0" rIns="0" bIns="0" rtlCol="0" anchor="t"/>
          <a:lstStyle/>
          <a:p>
            <a:pPr algn="ctr" indent="0" marL="0">
              <a:lnSpc>
                <a:spcPts val="1700"/>
              </a:lnSpc>
              <a:buNone/>
            </a:pPr>
            <a:r>
              <a:rPr lang="en-US" sz="1350" dirty="0">
                <a:solidFill>
                  <a:srgbClr val="6B7787"/>
                </a:solidFill>
                <a:latin typeface="Calibri" pitchFamily="34" charset="0"/>
                <a:ea typeface="Calibri" pitchFamily="34" charset="-122"/>
                <a:cs typeface="Calibri" pitchFamily="34" charset="-120"/>
              </a:rPr>
              <a:t>The generic question, on purpose</a:t>
            </a:r>
            <a:endParaRPr lang="en-US" sz="1350" dirty="0"/>
          </a:p>
        </p:txBody>
      </p:sp>
      <p:sp>
        <p:nvSpPr>
          <p:cNvPr id="14" name="Shape 12"/>
          <p:cNvSpPr/>
          <p:nvPr/>
        </p:nvSpPr>
        <p:spPr>
          <a:xfrm>
            <a:off x="6464808" y="2889504"/>
            <a:ext cx="1444752" cy="18288"/>
          </a:xfrm>
          <a:prstGeom prst="rect">
            <a:avLst/>
          </a:prstGeom>
          <a:solidFill>
            <a:srgbClr val="D2DDE7"/>
          </a:solidFill>
          <a:ln/>
        </p:spPr>
      </p:sp>
      <p:sp>
        <p:nvSpPr>
          <p:cNvPr id="15" name="Shape 13"/>
          <p:cNvSpPr/>
          <p:nvPr/>
        </p:nvSpPr>
        <p:spPr>
          <a:xfrm>
            <a:off x="5669280" y="2487168"/>
            <a:ext cx="822960" cy="822960"/>
          </a:xfrm>
          <a:prstGeom prst="ellipse">
            <a:avLst/>
          </a:prstGeom>
          <a:solidFill>
            <a:srgbClr val="F2F5F8"/>
          </a:solidFill>
          <a:ln w="15875">
            <a:solidFill>
              <a:srgbClr val="1D5C9B"/>
            </a:solidFill>
            <a:prstDash val="solid"/>
          </a:ln>
        </p:spPr>
      </p:sp>
      <p:sp>
        <p:nvSpPr>
          <p:cNvPr id="16" name="Text 14"/>
          <p:cNvSpPr/>
          <p:nvPr/>
        </p:nvSpPr>
        <p:spPr>
          <a:xfrm>
            <a:off x="5669280" y="2487168"/>
            <a:ext cx="822960" cy="822960"/>
          </a:xfrm>
          <a:prstGeom prst="rect">
            <a:avLst/>
          </a:prstGeom>
          <a:noFill/>
          <a:ln/>
        </p:spPr>
        <p:txBody>
          <a:bodyPr wrap="square" lIns="0" tIns="0" rIns="0" bIns="0" rtlCol="0" anchor="ctr"/>
          <a:lstStyle/>
          <a:p>
            <a:pPr algn="ctr" indent="0" marL="0">
              <a:buNone/>
            </a:pPr>
            <a:r>
              <a:rPr lang="en-US" sz="1900" b="1" dirty="0">
                <a:solidFill>
                  <a:srgbClr val="1D5C9B"/>
                </a:solidFill>
                <a:latin typeface="Cambria" pitchFamily="34" charset="0"/>
                <a:ea typeface="Cambria" pitchFamily="34" charset="-122"/>
                <a:cs typeface="Cambria" pitchFamily="34" charset="-120"/>
              </a:rPr>
              <a:t>03</a:t>
            </a:r>
            <a:endParaRPr lang="en-US" sz="1900" dirty="0"/>
          </a:p>
        </p:txBody>
      </p:sp>
      <p:sp>
        <p:nvSpPr>
          <p:cNvPr id="17" name="Text 15"/>
          <p:cNvSpPr/>
          <p:nvPr/>
        </p:nvSpPr>
        <p:spPr>
          <a:xfrm>
            <a:off x="5065776" y="3566160"/>
            <a:ext cx="2029968" cy="365760"/>
          </a:xfrm>
          <a:prstGeom prst="rect">
            <a:avLst/>
          </a:prstGeom>
          <a:noFill/>
          <a:ln/>
        </p:spPr>
        <p:txBody>
          <a:bodyPr wrap="square" lIns="0" tIns="0" rIns="0" bIns="0" rtlCol="0" anchor="ctr"/>
          <a:lstStyle/>
          <a:p>
            <a:pPr algn="ctr" indent="0" marL="0">
              <a:buNone/>
            </a:pPr>
            <a:r>
              <a:rPr lang="en-US" sz="1700" b="1" dirty="0">
                <a:solidFill>
                  <a:srgbClr val="16212E"/>
                </a:solidFill>
                <a:latin typeface="Cambria" pitchFamily="34" charset="0"/>
                <a:ea typeface="Cambria" pitchFamily="34" charset="-122"/>
                <a:cs typeface="Cambria" pitchFamily="34" charset="-120"/>
              </a:rPr>
              <a:t>Add the client</a:t>
            </a:r>
            <a:endParaRPr lang="en-US" sz="1700" dirty="0"/>
          </a:p>
        </p:txBody>
      </p:sp>
      <p:sp>
        <p:nvSpPr>
          <p:cNvPr id="18" name="Text 16"/>
          <p:cNvSpPr/>
          <p:nvPr/>
        </p:nvSpPr>
        <p:spPr>
          <a:xfrm>
            <a:off x="4992624" y="4005072"/>
            <a:ext cx="2176272" cy="914400"/>
          </a:xfrm>
          <a:prstGeom prst="rect">
            <a:avLst/>
          </a:prstGeom>
          <a:noFill/>
          <a:ln/>
        </p:spPr>
        <p:txBody>
          <a:bodyPr wrap="square" lIns="0" tIns="0" rIns="0" bIns="0" rtlCol="0" anchor="t"/>
          <a:lstStyle/>
          <a:p>
            <a:pPr algn="ctr" indent="0" marL="0">
              <a:lnSpc>
                <a:spcPts val="1700"/>
              </a:lnSpc>
              <a:buNone/>
            </a:pPr>
            <a:r>
              <a:rPr lang="en-US" sz="1350" dirty="0">
                <a:solidFill>
                  <a:srgbClr val="6B7787"/>
                </a:solidFill>
                <a:latin typeface="Calibri" pitchFamily="34" charset="0"/>
                <a:ea typeface="Calibri" pitchFamily="34" charset="-122"/>
                <a:cs typeface="Calibri" pitchFamily="34" charset="-120"/>
              </a:rPr>
              <a:t>Real operation, real constraints</a:t>
            </a:r>
            <a:endParaRPr lang="en-US" sz="1350" dirty="0"/>
          </a:p>
        </p:txBody>
      </p:sp>
      <p:sp>
        <p:nvSpPr>
          <p:cNvPr id="19" name="Shape 17"/>
          <p:cNvSpPr/>
          <p:nvPr/>
        </p:nvSpPr>
        <p:spPr>
          <a:xfrm>
            <a:off x="8677656" y="2889504"/>
            <a:ext cx="1444752" cy="18288"/>
          </a:xfrm>
          <a:prstGeom prst="rect">
            <a:avLst/>
          </a:prstGeom>
          <a:solidFill>
            <a:srgbClr val="D2DDE7"/>
          </a:solidFill>
          <a:ln/>
        </p:spPr>
      </p:sp>
      <p:sp>
        <p:nvSpPr>
          <p:cNvPr id="20" name="Shape 18"/>
          <p:cNvSpPr/>
          <p:nvPr/>
        </p:nvSpPr>
        <p:spPr>
          <a:xfrm>
            <a:off x="7882128" y="2487168"/>
            <a:ext cx="822960" cy="822960"/>
          </a:xfrm>
          <a:prstGeom prst="ellipse">
            <a:avLst/>
          </a:prstGeom>
          <a:solidFill>
            <a:srgbClr val="F2F5F8"/>
          </a:solidFill>
          <a:ln w="15875">
            <a:solidFill>
              <a:srgbClr val="1D5C9B"/>
            </a:solidFill>
            <a:prstDash val="solid"/>
          </a:ln>
        </p:spPr>
      </p:sp>
      <p:sp>
        <p:nvSpPr>
          <p:cNvPr id="21" name="Text 19"/>
          <p:cNvSpPr/>
          <p:nvPr/>
        </p:nvSpPr>
        <p:spPr>
          <a:xfrm>
            <a:off x="7882128" y="2487168"/>
            <a:ext cx="822960" cy="822960"/>
          </a:xfrm>
          <a:prstGeom prst="rect">
            <a:avLst/>
          </a:prstGeom>
          <a:noFill/>
          <a:ln/>
        </p:spPr>
        <p:txBody>
          <a:bodyPr wrap="square" lIns="0" tIns="0" rIns="0" bIns="0" rtlCol="0" anchor="ctr"/>
          <a:lstStyle/>
          <a:p>
            <a:pPr algn="ctr" indent="0" marL="0">
              <a:buNone/>
            </a:pPr>
            <a:r>
              <a:rPr lang="en-US" sz="1900" b="1" dirty="0">
                <a:solidFill>
                  <a:srgbClr val="1D5C9B"/>
                </a:solidFill>
                <a:latin typeface="Cambria" pitchFamily="34" charset="0"/>
                <a:ea typeface="Cambria" pitchFamily="34" charset="-122"/>
                <a:cs typeface="Cambria" pitchFamily="34" charset="-120"/>
              </a:rPr>
              <a:t>04</a:t>
            </a:r>
            <a:endParaRPr lang="en-US" sz="1900" dirty="0"/>
          </a:p>
        </p:txBody>
      </p:sp>
      <p:sp>
        <p:nvSpPr>
          <p:cNvPr id="22" name="Text 20"/>
          <p:cNvSpPr/>
          <p:nvPr/>
        </p:nvSpPr>
        <p:spPr>
          <a:xfrm>
            <a:off x="7278624" y="3566160"/>
            <a:ext cx="2029968" cy="365760"/>
          </a:xfrm>
          <a:prstGeom prst="rect">
            <a:avLst/>
          </a:prstGeom>
          <a:noFill/>
          <a:ln/>
        </p:spPr>
        <p:txBody>
          <a:bodyPr wrap="square" lIns="0" tIns="0" rIns="0" bIns="0" rtlCol="0" anchor="ctr"/>
          <a:lstStyle/>
          <a:p>
            <a:pPr algn="ctr" indent="0" marL="0">
              <a:buNone/>
            </a:pPr>
            <a:r>
              <a:rPr lang="en-US" sz="1700" b="1" dirty="0">
                <a:solidFill>
                  <a:srgbClr val="16212E"/>
                </a:solidFill>
                <a:latin typeface="Cambria" pitchFamily="34" charset="0"/>
                <a:ea typeface="Cambria" pitchFamily="34" charset="-122"/>
                <a:cs typeface="Cambria" pitchFamily="34" charset="-120"/>
              </a:rPr>
              <a:t>Ask for receipts</a:t>
            </a:r>
            <a:endParaRPr lang="en-US" sz="1700" dirty="0"/>
          </a:p>
        </p:txBody>
      </p:sp>
      <p:sp>
        <p:nvSpPr>
          <p:cNvPr id="23" name="Text 21"/>
          <p:cNvSpPr/>
          <p:nvPr/>
        </p:nvSpPr>
        <p:spPr>
          <a:xfrm>
            <a:off x="7205472" y="4005072"/>
            <a:ext cx="2176272" cy="914400"/>
          </a:xfrm>
          <a:prstGeom prst="rect">
            <a:avLst/>
          </a:prstGeom>
          <a:noFill/>
          <a:ln/>
        </p:spPr>
        <p:txBody>
          <a:bodyPr wrap="square" lIns="0" tIns="0" rIns="0" bIns="0" rtlCol="0" anchor="t"/>
          <a:lstStyle/>
          <a:p>
            <a:pPr algn="ctr" indent="0" marL="0">
              <a:lnSpc>
                <a:spcPts val="1700"/>
              </a:lnSpc>
              <a:buNone/>
            </a:pPr>
            <a:r>
              <a:rPr lang="en-US" sz="1350" dirty="0">
                <a:solidFill>
                  <a:srgbClr val="6B7787"/>
                </a:solidFill>
                <a:latin typeface="Calibri" pitchFamily="34" charset="0"/>
                <a:ea typeface="Calibri" pitchFamily="34" charset="-122"/>
                <a:cs typeface="Calibri" pitchFamily="34" charset="-120"/>
              </a:rPr>
              <a:t>A source for every number</a:t>
            </a:r>
            <a:endParaRPr lang="en-US" sz="1350" dirty="0"/>
          </a:p>
        </p:txBody>
      </p:sp>
      <p:sp>
        <p:nvSpPr>
          <p:cNvPr id="24" name="Shape 22"/>
          <p:cNvSpPr/>
          <p:nvPr/>
        </p:nvSpPr>
        <p:spPr>
          <a:xfrm>
            <a:off x="10094976" y="2487168"/>
            <a:ext cx="822960" cy="822960"/>
          </a:xfrm>
          <a:prstGeom prst="ellipse">
            <a:avLst/>
          </a:prstGeom>
          <a:solidFill>
            <a:srgbClr val="F2F5F8"/>
          </a:solidFill>
          <a:ln w="15875">
            <a:solidFill>
              <a:srgbClr val="1D5C9B"/>
            </a:solidFill>
            <a:prstDash val="solid"/>
          </a:ln>
        </p:spPr>
      </p:sp>
      <p:sp>
        <p:nvSpPr>
          <p:cNvPr id="25" name="Text 23"/>
          <p:cNvSpPr/>
          <p:nvPr/>
        </p:nvSpPr>
        <p:spPr>
          <a:xfrm>
            <a:off x="10094976" y="2487168"/>
            <a:ext cx="822960" cy="822960"/>
          </a:xfrm>
          <a:prstGeom prst="rect">
            <a:avLst/>
          </a:prstGeom>
          <a:noFill/>
          <a:ln/>
        </p:spPr>
        <p:txBody>
          <a:bodyPr wrap="square" lIns="0" tIns="0" rIns="0" bIns="0" rtlCol="0" anchor="ctr"/>
          <a:lstStyle/>
          <a:p>
            <a:pPr algn="ctr" indent="0" marL="0">
              <a:buNone/>
            </a:pPr>
            <a:r>
              <a:rPr lang="en-US" sz="1900" b="1" dirty="0">
                <a:solidFill>
                  <a:srgbClr val="1D5C9B"/>
                </a:solidFill>
                <a:latin typeface="Cambria" pitchFamily="34" charset="0"/>
                <a:ea typeface="Cambria" pitchFamily="34" charset="-122"/>
                <a:cs typeface="Cambria" pitchFamily="34" charset="-120"/>
              </a:rPr>
              <a:t>05</a:t>
            </a:r>
            <a:endParaRPr lang="en-US" sz="1900" dirty="0"/>
          </a:p>
        </p:txBody>
      </p:sp>
      <p:sp>
        <p:nvSpPr>
          <p:cNvPr id="26" name="Text 24"/>
          <p:cNvSpPr/>
          <p:nvPr/>
        </p:nvSpPr>
        <p:spPr>
          <a:xfrm>
            <a:off x="9491472" y="3566160"/>
            <a:ext cx="2029968" cy="365760"/>
          </a:xfrm>
          <a:prstGeom prst="rect">
            <a:avLst/>
          </a:prstGeom>
          <a:noFill/>
          <a:ln/>
        </p:spPr>
        <p:txBody>
          <a:bodyPr wrap="square" lIns="0" tIns="0" rIns="0" bIns="0" rtlCol="0" anchor="ctr"/>
          <a:lstStyle/>
          <a:p>
            <a:pPr algn="ctr" indent="0" marL="0">
              <a:buNone/>
            </a:pPr>
            <a:r>
              <a:rPr lang="en-US" sz="1700" b="1" dirty="0">
                <a:solidFill>
                  <a:srgbClr val="16212E"/>
                </a:solidFill>
                <a:latin typeface="Cambria" pitchFamily="34" charset="0"/>
                <a:ea typeface="Cambria" pitchFamily="34" charset="-122"/>
                <a:cs typeface="Cambria" pitchFamily="34" charset="-120"/>
              </a:rPr>
              <a:t>Make it useful</a:t>
            </a:r>
            <a:endParaRPr lang="en-US" sz="1700" dirty="0"/>
          </a:p>
        </p:txBody>
      </p:sp>
      <p:sp>
        <p:nvSpPr>
          <p:cNvPr id="27" name="Text 25"/>
          <p:cNvSpPr/>
          <p:nvPr/>
        </p:nvSpPr>
        <p:spPr>
          <a:xfrm>
            <a:off x="9418320" y="4005072"/>
            <a:ext cx="2176272" cy="914400"/>
          </a:xfrm>
          <a:prstGeom prst="rect">
            <a:avLst/>
          </a:prstGeom>
          <a:noFill/>
          <a:ln/>
        </p:spPr>
        <p:txBody>
          <a:bodyPr wrap="square" lIns="0" tIns="0" rIns="0" bIns="0" rtlCol="0" anchor="t"/>
          <a:lstStyle/>
          <a:p>
            <a:pPr algn="ctr" indent="0" marL="0">
              <a:lnSpc>
                <a:spcPts val="1700"/>
              </a:lnSpc>
              <a:buNone/>
            </a:pPr>
            <a:r>
              <a:rPr lang="en-US" sz="1350" dirty="0">
                <a:solidFill>
                  <a:srgbClr val="6B7787"/>
                </a:solidFill>
                <a:latin typeface="Calibri" pitchFamily="34" charset="0"/>
                <a:ea typeface="Calibri" pitchFamily="34" charset="-122"/>
                <a:cs typeface="Calibri" pitchFamily="34" charset="-120"/>
              </a:rPr>
              <a:t>One page for the leadership team</a:t>
            </a:r>
            <a:endParaRPr lang="en-US" sz="1350" dirty="0"/>
          </a:p>
        </p:txBody>
      </p:sp>
      <p:sp>
        <p:nvSpPr>
          <p:cNvPr id="28" name="Shape 26"/>
          <p:cNvSpPr/>
          <p:nvPr/>
        </p:nvSpPr>
        <p:spPr>
          <a:xfrm>
            <a:off x="640080" y="5349240"/>
            <a:ext cx="10881360" cy="822960"/>
          </a:xfrm>
          <a:prstGeom prst="roundRect">
            <a:avLst>
              <a:gd name="adj" fmla="val 8889"/>
            </a:avLst>
          </a:prstGeom>
          <a:solidFill>
            <a:srgbClr val="DCE6F0"/>
          </a:solidFill>
          <a:ln/>
        </p:spPr>
      </p:sp>
      <p:sp>
        <p:nvSpPr>
          <p:cNvPr id="29" name="Text 27"/>
          <p:cNvSpPr/>
          <p:nvPr/>
        </p:nvSpPr>
        <p:spPr>
          <a:xfrm>
            <a:off x="1005840" y="5349240"/>
            <a:ext cx="10149840" cy="822960"/>
          </a:xfrm>
          <a:prstGeom prst="rect">
            <a:avLst/>
          </a:prstGeom>
          <a:noFill/>
          <a:ln/>
        </p:spPr>
        <p:txBody>
          <a:bodyPr wrap="square" lIns="0" tIns="0" rIns="0" bIns="0" rtlCol="0" anchor="ctr"/>
          <a:lstStyle/>
          <a:p>
            <a:pPr indent="0" marL="0">
              <a:buNone/>
            </a:pPr>
            <a:r>
              <a:rPr lang="en-US" sz="1550" dirty="0">
                <a:solidFill>
                  <a:srgbClr val="16212E"/>
                </a:solidFill>
                <a:latin typeface="Calibri" pitchFamily="34" charset="0"/>
                <a:ea typeface="Calibri" pitchFamily="34" charset="-122"/>
                <a:cs typeface="Calibri" pitchFamily="34" charset="-120"/>
              </a:rPr>
              <a:t>What matters is what changed between steps — what detail fixed, and what only pressure fixed.</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280160" cy="868680"/>
          </a:xfrm>
          <a:prstGeom prst="rect">
            <a:avLst/>
          </a:prstGeom>
          <a:noFill/>
          <a:ln/>
        </p:spPr>
        <p:txBody>
          <a:bodyPr wrap="square" lIns="0" tIns="0" rIns="0" bIns="0" rtlCol="0" anchor="ctr"/>
          <a:lstStyle/>
          <a:p>
            <a:pPr indent="0" marL="0">
              <a:buNone/>
            </a:pPr>
            <a:r>
              <a:rPr lang="en-US" sz="5000" b="1" dirty="0">
                <a:solidFill>
                  <a:srgbClr val="1D5C9B"/>
                </a:solidFill>
                <a:latin typeface="Cambria" pitchFamily="34" charset="0"/>
                <a:ea typeface="Cambria" pitchFamily="34" charset="-122"/>
                <a:cs typeface="Cambria" pitchFamily="34" charset="-120"/>
              </a:rPr>
              <a:t>01</a:t>
            </a:r>
            <a:endParaRPr lang="en-US" sz="5000" dirty="0"/>
          </a:p>
        </p:txBody>
      </p:sp>
      <p:sp>
        <p:nvSpPr>
          <p:cNvPr id="3" name="Text 1"/>
          <p:cNvSpPr/>
          <p:nvPr/>
        </p:nvSpPr>
        <p:spPr>
          <a:xfrm>
            <a:off x="1783080" y="411480"/>
            <a:ext cx="9692640" cy="868680"/>
          </a:xfrm>
          <a:prstGeom prst="rect">
            <a:avLst/>
          </a:prstGeom>
          <a:noFill/>
          <a:ln/>
        </p:spPr>
        <p:txBody>
          <a:bodyPr wrap="square" lIns="0" tIns="0" rIns="0" bIns="0" rtlCol="0" anchor="ctr"/>
          <a:lstStyle/>
          <a:p>
            <a:pPr indent="0" marL="0">
              <a:buNone/>
            </a:pPr>
            <a:r>
              <a:rPr lang="en-US" sz="3600" b="1" dirty="0">
                <a:solidFill>
                  <a:srgbClr val="16212E"/>
                </a:solidFill>
                <a:latin typeface="Cambria" pitchFamily="34" charset="0"/>
                <a:ea typeface="Cambria" pitchFamily="34" charset="-122"/>
                <a:cs typeface="Cambria" pitchFamily="34" charset="-120"/>
              </a:rPr>
              <a:t>Set the method</a:t>
            </a:r>
            <a:endParaRPr lang="en-US" sz="3600" dirty="0"/>
          </a:p>
        </p:txBody>
      </p:sp>
      <p:sp>
        <p:nvSpPr>
          <p:cNvPr id="4" name="Shape 2"/>
          <p:cNvSpPr/>
          <p:nvPr/>
        </p:nvSpPr>
        <p:spPr>
          <a:xfrm>
            <a:off x="640080" y="1463040"/>
            <a:ext cx="5257800" cy="2697480"/>
          </a:xfrm>
          <a:prstGeom prst="roundRect">
            <a:avLst>
              <a:gd name="adj" fmla="val 2712"/>
            </a:avLst>
          </a:prstGeom>
          <a:solidFill>
            <a:srgbClr val="F2F5F8"/>
          </a:solidFill>
          <a:ln w="12700">
            <a:solidFill>
              <a:srgbClr val="E1E8EF"/>
            </a:solidFill>
            <a:prstDash val="solid"/>
          </a:ln>
          <a:effectLst>
            <a:outerShdw sx="100000" sy="100000" kx="0" ky="0" algn="bl" rotWithShape="0" blurRad="152400" dist="25400" dir="5400000">
              <a:srgbClr val="000000">
                <a:alpha val="8000"/>
              </a:srgbClr>
            </a:outerShdw>
          </a:effectLst>
        </p:spPr>
      </p:sp>
      <p:sp>
        <p:nvSpPr>
          <p:cNvPr id="5" name="Text 3"/>
          <p:cNvSpPr/>
          <p:nvPr/>
        </p:nvSpPr>
        <p:spPr>
          <a:xfrm>
            <a:off x="987552" y="1719072"/>
            <a:ext cx="4562856" cy="256032"/>
          </a:xfrm>
          <a:prstGeom prst="rect">
            <a:avLst/>
          </a:prstGeom>
          <a:noFill/>
          <a:ln/>
        </p:spPr>
        <p:txBody>
          <a:bodyPr wrap="square" lIns="0" tIns="0" rIns="0" bIns="0" rtlCol="0" anchor="ctr"/>
          <a:lstStyle/>
          <a:p>
            <a:pPr indent="0" marL="0">
              <a:buNone/>
            </a:pPr>
            <a:r>
              <a:rPr lang="en-US" sz="1150" b="1" spc="200" kern="0" dirty="0">
                <a:solidFill>
                  <a:srgbClr val="6B7787"/>
                </a:solidFill>
                <a:latin typeface="Calibri" pitchFamily="34" charset="0"/>
                <a:ea typeface="Calibri" pitchFamily="34" charset="-122"/>
                <a:cs typeface="Calibri" pitchFamily="34" charset="-120"/>
              </a:rPr>
              <a:t>WHAT I ASKED</a:t>
            </a:r>
            <a:endParaRPr lang="en-US" sz="1150" dirty="0"/>
          </a:p>
        </p:txBody>
      </p:sp>
      <p:sp>
        <p:nvSpPr>
          <p:cNvPr id="6" name="Text 4"/>
          <p:cNvSpPr/>
          <p:nvPr/>
        </p:nvSpPr>
        <p:spPr>
          <a:xfrm>
            <a:off x="987552" y="2057400"/>
            <a:ext cx="4562856" cy="1051560"/>
          </a:xfrm>
          <a:prstGeom prst="rect">
            <a:avLst/>
          </a:prstGeom>
          <a:noFill/>
          <a:ln/>
        </p:spPr>
        <p:txBody>
          <a:bodyPr wrap="square" lIns="0" tIns="0" rIns="0" bIns="0" rtlCol="0" anchor="t"/>
          <a:lstStyle/>
          <a:p>
            <a:pPr indent="0" marL="0">
              <a:lnSpc>
                <a:spcPts val="2100"/>
              </a:lnSpc>
              <a:buNone/>
            </a:pPr>
            <a:r>
              <a:rPr lang="en-US" sz="1450" dirty="0">
                <a:solidFill>
                  <a:srgbClr val="16212E"/>
                </a:solidFill>
                <a:latin typeface="Calibri" pitchFamily="34" charset="0"/>
                <a:ea typeface="Calibri" pitchFamily="34" charset="-122"/>
                <a:cs typeface="Calibri" pitchFamily="34" charset="-120"/>
              </a:rPr>
              <a:t>Before the client problem: what makes a prompt well designed, what do you do badly when I ask for research with citations, and how should I sequence prompts so each builds on the last?</a:t>
            </a:r>
            <a:endParaRPr lang="en-US" sz="1450" dirty="0"/>
          </a:p>
        </p:txBody>
      </p:sp>
      <p:sp>
        <p:nvSpPr>
          <p:cNvPr id="7" name="Text 5"/>
          <p:cNvSpPr/>
          <p:nvPr/>
        </p:nvSpPr>
        <p:spPr>
          <a:xfrm>
            <a:off x="987552" y="3200400"/>
            <a:ext cx="4562856" cy="777240"/>
          </a:xfrm>
          <a:prstGeom prst="rect">
            <a:avLst/>
          </a:prstGeom>
          <a:noFill/>
          <a:ln/>
        </p:spPr>
        <p:txBody>
          <a:bodyPr wrap="square" lIns="0" tIns="0" rIns="0" bIns="0" rtlCol="0" anchor="t"/>
          <a:lstStyle/>
          <a:p>
            <a:pPr indent="0" marL="0">
              <a:lnSpc>
                <a:spcPts val="1900"/>
              </a:lnSpc>
              <a:buNone/>
            </a:pPr>
            <a:r>
              <a:rPr lang="en-US" sz="1350" b="1" i="1" dirty="0">
                <a:solidFill>
                  <a:srgbClr val="1D5C9B"/>
                </a:solidFill>
                <a:latin typeface="Calibri" pitchFamily="34" charset="0"/>
                <a:ea typeface="Calibri" pitchFamily="34" charset="-122"/>
                <a:cs typeface="Calibri" pitchFamily="34" charset="-120"/>
              </a:rPr>
              <a:t>“Where your answer draws on vendor documentation or on your own general behaviour rather than independent research, say so explicitly.”</a:t>
            </a:r>
            <a:endParaRPr lang="en-US" sz="1350" dirty="0"/>
          </a:p>
        </p:txBody>
      </p:sp>
      <p:sp>
        <p:nvSpPr>
          <p:cNvPr id="8" name="Shape 6"/>
          <p:cNvSpPr/>
          <p:nvPr/>
        </p:nvSpPr>
        <p:spPr>
          <a:xfrm>
            <a:off x="6263640" y="1463040"/>
            <a:ext cx="5257800" cy="2697480"/>
          </a:xfrm>
          <a:prstGeom prst="roundRect">
            <a:avLst>
              <a:gd name="adj" fmla="val 2712"/>
            </a:avLst>
          </a:prstGeom>
          <a:solidFill>
            <a:srgbClr val="DCE6F0"/>
          </a:solidFill>
          <a:ln w="12700">
            <a:solidFill>
              <a:srgbClr val="C3D3E3"/>
            </a:solidFill>
            <a:prstDash val="solid"/>
          </a:ln>
          <a:effectLst>
            <a:outerShdw sx="100000" sy="100000" kx="0" ky="0" algn="bl" rotWithShape="0" blurRad="152400" dist="25400" dir="5400000">
              <a:srgbClr val="000000">
                <a:alpha val="8000"/>
              </a:srgbClr>
            </a:outerShdw>
          </a:effectLst>
        </p:spPr>
      </p:sp>
      <p:sp>
        <p:nvSpPr>
          <p:cNvPr id="9" name="Text 7"/>
          <p:cNvSpPr/>
          <p:nvPr/>
        </p:nvSpPr>
        <p:spPr>
          <a:xfrm>
            <a:off x="6611112" y="1719072"/>
            <a:ext cx="4562856" cy="256032"/>
          </a:xfrm>
          <a:prstGeom prst="rect">
            <a:avLst/>
          </a:prstGeom>
          <a:noFill/>
          <a:ln/>
        </p:spPr>
        <p:txBody>
          <a:bodyPr wrap="square" lIns="0" tIns="0" rIns="0" bIns="0" rtlCol="0" anchor="ctr"/>
          <a:lstStyle/>
          <a:p>
            <a:pPr indent="0" marL="0">
              <a:buNone/>
            </a:pPr>
            <a:r>
              <a:rPr lang="en-US" sz="1150" b="1" spc="200" kern="0" dirty="0">
                <a:solidFill>
                  <a:srgbClr val="3E6488"/>
                </a:solidFill>
                <a:latin typeface="Calibri" pitchFamily="34" charset="0"/>
                <a:ea typeface="Calibri" pitchFamily="34" charset="-122"/>
                <a:cs typeface="Calibri" pitchFamily="34" charset="-120"/>
              </a:rPr>
              <a:t>WHAT CAME BACK</a:t>
            </a:r>
            <a:endParaRPr lang="en-US" sz="1150" dirty="0"/>
          </a:p>
        </p:txBody>
      </p:sp>
      <p:sp>
        <p:nvSpPr>
          <p:cNvPr id="10" name="Text 8"/>
          <p:cNvSpPr/>
          <p:nvPr/>
        </p:nvSpPr>
        <p:spPr>
          <a:xfrm>
            <a:off x="6611112" y="2057400"/>
            <a:ext cx="4562856" cy="1874520"/>
          </a:xfrm>
          <a:prstGeom prst="rect">
            <a:avLst/>
          </a:prstGeom>
          <a:noFill/>
          <a:ln/>
        </p:spPr>
        <p:txBody>
          <a:bodyPr wrap="square" lIns="0" tIns="0" rIns="0" bIns="0" rtlCol="0" anchor="t"/>
          <a:lstStyle/>
          <a:p>
            <a:pPr indent="0" marL="0">
              <a:lnSpc>
                <a:spcPts val="2100"/>
              </a:lnSpc>
              <a:buNone/>
            </a:pPr>
            <a:r>
              <a:rPr lang="en-US" sz="1450" dirty="0">
                <a:solidFill>
                  <a:srgbClr val="16212E"/>
                </a:solidFill>
                <a:latin typeface="Calibri" pitchFamily="34" charset="0"/>
                <a:ea typeface="Calibri" pitchFamily="34" charset="-122"/>
                <a:cs typeface="Calibri" pitchFamily="34" charset="-120"/>
              </a:rPr>
              <a:t>A usable method, and one useful admission: it can produce citations that look right and aren't. Most of its advice came from vendor guides and from describing itself.</a:t>
            </a:r>
            <a:endParaRPr lang="en-US" sz="1450" dirty="0"/>
          </a:p>
        </p:txBody>
      </p:sp>
      <p:sp>
        <p:nvSpPr>
          <p:cNvPr id="11" name="Text 9"/>
          <p:cNvSpPr/>
          <p:nvPr/>
        </p:nvSpPr>
        <p:spPr>
          <a:xfrm>
            <a:off x="640080" y="4434840"/>
            <a:ext cx="5486400" cy="274320"/>
          </a:xfrm>
          <a:prstGeom prst="rect">
            <a:avLst/>
          </a:prstGeom>
          <a:noFill/>
          <a:ln/>
        </p:spPr>
        <p:txBody>
          <a:bodyPr wrap="square" lIns="0" tIns="0" rIns="0" bIns="0" rtlCol="0" anchor="ctr"/>
          <a:lstStyle/>
          <a:p>
            <a:pPr indent="0" marL="0">
              <a:buNone/>
            </a:pPr>
            <a:r>
              <a:rPr lang="en-US" sz="1150" b="1" spc="200" kern="0" dirty="0">
                <a:solidFill>
                  <a:srgbClr val="1D5C9B"/>
                </a:solidFill>
                <a:latin typeface="Calibri" pitchFamily="34" charset="0"/>
                <a:ea typeface="Calibri" pitchFamily="34" charset="-122"/>
                <a:cs typeface="Calibri" pitchFamily="34" charset="-120"/>
              </a:rPr>
              <a:t>CRAAP EVALUATION</a:t>
            </a:r>
            <a:endParaRPr lang="en-US" sz="1150" dirty="0"/>
          </a:p>
        </p:txBody>
      </p:sp>
      <p:sp>
        <p:nvSpPr>
          <p:cNvPr id="12" name="Shape 10"/>
          <p:cNvSpPr/>
          <p:nvPr/>
        </p:nvSpPr>
        <p:spPr>
          <a:xfrm>
            <a:off x="640080" y="4800600"/>
            <a:ext cx="3456432" cy="1280160"/>
          </a:xfrm>
          <a:prstGeom prst="roundRect">
            <a:avLst>
              <a:gd name="adj" fmla="val 5000"/>
            </a:avLst>
          </a:prstGeom>
          <a:solidFill>
            <a:srgbClr val="F8FAFC"/>
          </a:solidFill>
          <a:ln w="12700">
            <a:solidFill>
              <a:srgbClr val="DCE4EC"/>
            </a:solidFill>
            <a:prstDash val="solid"/>
          </a:ln>
        </p:spPr>
      </p:sp>
      <p:sp>
        <p:nvSpPr>
          <p:cNvPr id="13" name="Text 11"/>
          <p:cNvSpPr/>
          <p:nvPr/>
        </p:nvSpPr>
        <p:spPr>
          <a:xfrm>
            <a:off x="896112" y="4956048"/>
            <a:ext cx="2944368" cy="292608"/>
          </a:xfrm>
          <a:prstGeom prst="rect">
            <a:avLst/>
          </a:prstGeom>
          <a:noFill/>
          <a:ln/>
        </p:spPr>
        <p:txBody>
          <a:bodyPr wrap="square" lIns="0" tIns="0" rIns="0" bIns="0" rtlCol="0" anchor="ctr"/>
          <a:lstStyle/>
          <a:p>
            <a:pPr indent="0" marL="0">
              <a:buNone/>
            </a:pPr>
            <a:r>
              <a:rPr lang="en-US" sz="1500" b="1" dirty="0">
                <a:solidFill>
                  <a:srgbClr val="1D5C9B"/>
                </a:solidFill>
                <a:latin typeface="Cambria" pitchFamily="34" charset="0"/>
                <a:ea typeface="Cambria" pitchFamily="34" charset="-122"/>
                <a:cs typeface="Cambria" pitchFamily="34" charset="-120"/>
              </a:rPr>
              <a:t>Authority</a:t>
            </a:r>
            <a:endParaRPr lang="en-US" sz="1500" dirty="0"/>
          </a:p>
        </p:txBody>
      </p:sp>
      <p:sp>
        <p:nvSpPr>
          <p:cNvPr id="14" name="Text 12"/>
          <p:cNvSpPr/>
          <p:nvPr/>
        </p:nvSpPr>
        <p:spPr>
          <a:xfrm>
            <a:off x="896112" y="5285232"/>
            <a:ext cx="2944368" cy="713232"/>
          </a:xfrm>
          <a:prstGeom prst="rect">
            <a:avLst/>
          </a:prstGeom>
          <a:noFill/>
          <a:ln/>
        </p:spPr>
        <p:txBody>
          <a:bodyPr wrap="square" lIns="0" tIns="0" rIns="0" bIns="0" rtlCol="0" anchor="t"/>
          <a:lstStyle/>
          <a:p>
            <a:pPr indent="0" marL="0">
              <a:lnSpc>
                <a:spcPts val="1700"/>
              </a:lnSpc>
              <a:buNone/>
            </a:pPr>
            <a:r>
              <a:rPr lang="en-US" sz="1250" dirty="0">
                <a:solidFill>
                  <a:srgbClr val="16212E"/>
                </a:solidFill>
                <a:latin typeface="Calibri" pitchFamily="34" charset="0"/>
                <a:ea typeface="Calibri" pitchFamily="34" charset="-122"/>
                <a:cs typeface="Calibri" pitchFamily="34" charset="-120"/>
              </a:rPr>
              <a:t>Based on vendor guides and its own self-description — not independent research.</a:t>
            </a:r>
            <a:endParaRPr lang="en-US" sz="1250" dirty="0"/>
          </a:p>
        </p:txBody>
      </p:sp>
      <p:sp>
        <p:nvSpPr>
          <p:cNvPr id="15" name="Shape 13"/>
          <p:cNvSpPr/>
          <p:nvPr/>
        </p:nvSpPr>
        <p:spPr>
          <a:xfrm>
            <a:off x="4352544" y="4800600"/>
            <a:ext cx="3456432" cy="1280160"/>
          </a:xfrm>
          <a:prstGeom prst="roundRect">
            <a:avLst>
              <a:gd name="adj" fmla="val 5000"/>
            </a:avLst>
          </a:prstGeom>
          <a:solidFill>
            <a:srgbClr val="F8FAFC"/>
          </a:solidFill>
          <a:ln w="12700">
            <a:solidFill>
              <a:srgbClr val="DCE4EC"/>
            </a:solidFill>
            <a:prstDash val="solid"/>
          </a:ln>
        </p:spPr>
      </p:sp>
      <p:sp>
        <p:nvSpPr>
          <p:cNvPr id="16" name="Text 14"/>
          <p:cNvSpPr/>
          <p:nvPr/>
        </p:nvSpPr>
        <p:spPr>
          <a:xfrm>
            <a:off x="4608576" y="4956048"/>
            <a:ext cx="2944368" cy="292608"/>
          </a:xfrm>
          <a:prstGeom prst="rect">
            <a:avLst/>
          </a:prstGeom>
          <a:noFill/>
          <a:ln/>
        </p:spPr>
        <p:txBody>
          <a:bodyPr wrap="square" lIns="0" tIns="0" rIns="0" bIns="0" rtlCol="0" anchor="ctr"/>
          <a:lstStyle/>
          <a:p>
            <a:pPr indent="0" marL="0">
              <a:buNone/>
            </a:pPr>
            <a:r>
              <a:rPr lang="en-US" sz="1500" b="1" dirty="0">
                <a:solidFill>
                  <a:srgbClr val="1D5C9B"/>
                </a:solidFill>
                <a:latin typeface="Cambria" pitchFamily="34" charset="0"/>
                <a:ea typeface="Cambria" pitchFamily="34" charset="-122"/>
                <a:cs typeface="Cambria" pitchFamily="34" charset="-120"/>
              </a:rPr>
              <a:t>Purpose</a:t>
            </a:r>
            <a:endParaRPr lang="en-US" sz="1500" dirty="0"/>
          </a:p>
        </p:txBody>
      </p:sp>
      <p:sp>
        <p:nvSpPr>
          <p:cNvPr id="17" name="Text 15"/>
          <p:cNvSpPr/>
          <p:nvPr/>
        </p:nvSpPr>
        <p:spPr>
          <a:xfrm>
            <a:off x="4608576" y="5285232"/>
            <a:ext cx="2944368" cy="713232"/>
          </a:xfrm>
          <a:prstGeom prst="rect">
            <a:avLst/>
          </a:prstGeom>
          <a:noFill/>
          <a:ln/>
        </p:spPr>
        <p:txBody>
          <a:bodyPr wrap="square" lIns="0" tIns="0" rIns="0" bIns="0" rtlCol="0" anchor="t"/>
          <a:lstStyle/>
          <a:p>
            <a:pPr indent="0" marL="0">
              <a:lnSpc>
                <a:spcPts val="1700"/>
              </a:lnSpc>
              <a:buNone/>
            </a:pPr>
            <a:r>
              <a:rPr lang="en-US" sz="1250" dirty="0">
                <a:solidFill>
                  <a:srgbClr val="16212E"/>
                </a:solidFill>
                <a:latin typeface="Calibri" pitchFamily="34" charset="0"/>
                <a:ea typeface="Calibri" pitchFamily="34" charset="-122"/>
                <a:cs typeface="Calibri" pitchFamily="34" charset="-120"/>
              </a:rPr>
              <a:t>Vendor guides exist to sell the tool. Useful, but not neutral.</a:t>
            </a:r>
            <a:endParaRPr lang="en-US" sz="1250" dirty="0"/>
          </a:p>
        </p:txBody>
      </p:sp>
      <p:sp>
        <p:nvSpPr>
          <p:cNvPr id="18" name="Shape 16"/>
          <p:cNvSpPr/>
          <p:nvPr/>
        </p:nvSpPr>
        <p:spPr>
          <a:xfrm>
            <a:off x="8065008" y="4800600"/>
            <a:ext cx="3456432" cy="1280160"/>
          </a:xfrm>
          <a:prstGeom prst="roundRect">
            <a:avLst>
              <a:gd name="adj" fmla="val 5000"/>
            </a:avLst>
          </a:prstGeom>
          <a:solidFill>
            <a:srgbClr val="F8FAFC"/>
          </a:solidFill>
          <a:ln w="12700">
            <a:solidFill>
              <a:srgbClr val="DCE4EC"/>
            </a:solidFill>
            <a:prstDash val="solid"/>
          </a:ln>
        </p:spPr>
      </p:sp>
      <p:sp>
        <p:nvSpPr>
          <p:cNvPr id="19" name="Text 17"/>
          <p:cNvSpPr/>
          <p:nvPr/>
        </p:nvSpPr>
        <p:spPr>
          <a:xfrm>
            <a:off x="8321040" y="4956048"/>
            <a:ext cx="2944368" cy="292608"/>
          </a:xfrm>
          <a:prstGeom prst="rect">
            <a:avLst/>
          </a:prstGeom>
          <a:noFill/>
          <a:ln/>
        </p:spPr>
        <p:txBody>
          <a:bodyPr wrap="square" lIns="0" tIns="0" rIns="0" bIns="0" rtlCol="0" anchor="ctr"/>
          <a:lstStyle/>
          <a:p>
            <a:pPr indent="0" marL="0">
              <a:buNone/>
            </a:pPr>
            <a:r>
              <a:rPr lang="en-US" sz="1500" b="1" dirty="0">
                <a:solidFill>
                  <a:srgbClr val="1D5C9B"/>
                </a:solidFill>
                <a:latin typeface="Cambria" pitchFamily="34" charset="0"/>
                <a:ea typeface="Cambria" pitchFamily="34" charset="-122"/>
                <a:cs typeface="Cambria" pitchFamily="34" charset="-120"/>
              </a:rPr>
              <a:t>Currency</a:t>
            </a:r>
            <a:endParaRPr lang="en-US" sz="1500" dirty="0"/>
          </a:p>
        </p:txBody>
      </p:sp>
      <p:sp>
        <p:nvSpPr>
          <p:cNvPr id="20" name="Text 18"/>
          <p:cNvSpPr/>
          <p:nvPr/>
        </p:nvSpPr>
        <p:spPr>
          <a:xfrm>
            <a:off x="8321040" y="5285232"/>
            <a:ext cx="2944368" cy="713232"/>
          </a:xfrm>
          <a:prstGeom prst="rect">
            <a:avLst/>
          </a:prstGeom>
          <a:noFill/>
          <a:ln/>
        </p:spPr>
        <p:txBody>
          <a:bodyPr wrap="square" lIns="0" tIns="0" rIns="0" bIns="0" rtlCol="0" anchor="t"/>
          <a:lstStyle/>
          <a:p>
            <a:pPr indent="0" marL="0">
              <a:lnSpc>
                <a:spcPts val="1700"/>
              </a:lnSpc>
              <a:buNone/>
            </a:pPr>
            <a:r>
              <a:rPr lang="en-US" sz="1250" dirty="0">
                <a:solidFill>
                  <a:srgbClr val="16212E"/>
                </a:solidFill>
                <a:latin typeface="Calibri" pitchFamily="34" charset="0"/>
                <a:ea typeface="Calibri" pitchFamily="34" charset="-122"/>
                <a:cs typeface="Calibri" pitchFamily="34" charset="-120"/>
              </a:rPr>
              <a:t>Advice about prompting changes with every new model. Undated advice goes stale fast.</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280160" cy="868680"/>
          </a:xfrm>
          <a:prstGeom prst="rect">
            <a:avLst/>
          </a:prstGeom>
          <a:noFill/>
          <a:ln/>
        </p:spPr>
        <p:txBody>
          <a:bodyPr wrap="square" lIns="0" tIns="0" rIns="0" bIns="0" rtlCol="0" anchor="ctr"/>
          <a:lstStyle/>
          <a:p>
            <a:pPr indent="0" marL="0">
              <a:buNone/>
            </a:pPr>
            <a:r>
              <a:rPr lang="en-US" sz="5000" b="1" dirty="0">
                <a:solidFill>
                  <a:srgbClr val="1D5C9B"/>
                </a:solidFill>
                <a:latin typeface="Cambria" pitchFamily="34" charset="0"/>
                <a:ea typeface="Cambria" pitchFamily="34" charset="-122"/>
                <a:cs typeface="Cambria" pitchFamily="34" charset="-120"/>
              </a:rPr>
              <a:t>02</a:t>
            </a:r>
            <a:endParaRPr lang="en-US" sz="5000" dirty="0"/>
          </a:p>
        </p:txBody>
      </p:sp>
      <p:sp>
        <p:nvSpPr>
          <p:cNvPr id="3" name="Text 1"/>
          <p:cNvSpPr/>
          <p:nvPr/>
        </p:nvSpPr>
        <p:spPr>
          <a:xfrm>
            <a:off x="1783080" y="411480"/>
            <a:ext cx="9692640" cy="868680"/>
          </a:xfrm>
          <a:prstGeom prst="rect">
            <a:avLst/>
          </a:prstGeom>
          <a:noFill/>
          <a:ln/>
        </p:spPr>
        <p:txBody>
          <a:bodyPr wrap="square" lIns="0" tIns="0" rIns="0" bIns="0" rtlCol="0" anchor="ctr"/>
          <a:lstStyle/>
          <a:p>
            <a:pPr indent="0" marL="0">
              <a:buNone/>
            </a:pPr>
            <a:r>
              <a:rPr lang="en-US" sz="3600" b="1" dirty="0">
                <a:solidFill>
                  <a:srgbClr val="16212E"/>
                </a:solidFill>
                <a:latin typeface="Cambria" pitchFamily="34" charset="0"/>
                <a:ea typeface="Cambria" pitchFamily="34" charset="-122"/>
                <a:cs typeface="Cambria" pitchFamily="34" charset="-120"/>
              </a:rPr>
              <a:t>Ask it badly</a:t>
            </a:r>
            <a:endParaRPr lang="en-US" sz="3600" dirty="0"/>
          </a:p>
        </p:txBody>
      </p:sp>
      <p:sp>
        <p:nvSpPr>
          <p:cNvPr id="4" name="Shape 2"/>
          <p:cNvSpPr/>
          <p:nvPr/>
        </p:nvSpPr>
        <p:spPr>
          <a:xfrm>
            <a:off x="640080" y="1463040"/>
            <a:ext cx="5257800" cy="2697480"/>
          </a:xfrm>
          <a:prstGeom prst="roundRect">
            <a:avLst>
              <a:gd name="adj" fmla="val 2712"/>
            </a:avLst>
          </a:prstGeom>
          <a:solidFill>
            <a:srgbClr val="F2F5F8"/>
          </a:solidFill>
          <a:ln w="12700">
            <a:solidFill>
              <a:srgbClr val="E1E8EF"/>
            </a:solidFill>
            <a:prstDash val="solid"/>
          </a:ln>
          <a:effectLst>
            <a:outerShdw sx="100000" sy="100000" kx="0" ky="0" algn="bl" rotWithShape="0" blurRad="152400" dist="25400" dir="5400000">
              <a:srgbClr val="000000">
                <a:alpha val="8000"/>
              </a:srgbClr>
            </a:outerShdw>
          </a:effectLst>
        </p:spPr>
      </p:sp>
      <p:sp>
        <p:nvSpPr>
          <p:cNvPr id="5" name="Text 3"/>
          <p:cNvSpPr/>
          <p:nvPr/>
        </p:nvSpPr>
        <p:spPr>
          <a:xfrm>
            <a:off x="987552" y="1719072"/>
            <a:ext cx="4562856" cy="256032"/>
          </a:xfrm>
          <a:prstGeom prst="rect">
            <a:avLst/>
          </a:prstGeom>
          <a:noFill/>
          <a:ln/>
        </p:spPr>
        <p:txBody>
          <a:bodyPr wrap="square" lIns="0" tIns="0" rIns="0" bIns="0" rtlCol="0" anchor="ctr"/>
          <a:lstStyle/>
          <a:p>
            <a:pPr indent="0" marL="0">
              <a:buNone/>
            </a:pPr>
            <a:r>
              <a:rPr lang="en-US" sz="1150" b="1" spc="200" kern="0" dirty="0">
                <a:solidFill>
                  <a:srgbClr val="6B7787"/>
                </a:solidFill>
                <a:latin typeface="Calibri" pitchFamily="34" charset="0"/>
                <a:ea typeface="Calibri" pitchFamily="34" charset="-122"/>
                <a:cs typeface="Calibri" pitchFamily="34" charset="-120"/>
              </a:rPr>
              <a:t>WHAT I ASKED</a:t>
            </a:r>
            <a:endParaRPr lang="en-US" sz="1150" dirty="0"/>
          </a:p>
        </p:txBody>
      </p:sp>
      <p:sp>
        <p:nvSpPr>
          <p:cNvPr id="6" name="Text 4"/>
          <p:cNvSpPr/>
          <p:nvPr/>
        </p:nvSpPr>
        <p:spPr>
          <a:xfrm>
            <a:off x="987552" y="2057400"/>
            <a:ext cx="4562856" cy="1051560"/>
          </a:xfrm>
          <a:prstGeom prst="rect">
            <a:avLst/>
          </a:prstGeom>
          <a:noFill/>
          <a:ln/>
        </p:spPr>
        <p:txBody>
          <a:bodyPr wrap="square" lIns="0" tIns="0" rIns="0" bIns="0" rtlCol="0" anchor="t"/>
          <a:lstStyle/>
          <a:p>
            <a:pPr indent="0" marL="0">
              <a:lnSpc>
                <a:spcPts val="2100"/>
              </a:lnSpc>
              <a:buNone/>
            </a:pPr>
            <a:r>
              <a:rPr lang="en-US" sz="1450" dirty="0">
                <a:solidFill>
                  <a:srgbClr val="16212E"/>
                </a:solidFill>
                <a:latin typeface="Calibri" pitchFamily="34" charset="0"/>
                <a:ea typeface="Calibri" pitchFamily="34" charset="-122"/>
                <a:cs typeface="Calibri" pitchFamily="34" charset="-120"/>
              </a:rPr>
              <a:t>How might we harness data and technology to improve the workforce participation of transport and logistics workers aged 55 and over?</a:t>
            </a:r>
            <a:endParaRPr lang="en-US" sz="1450" dirty="0"/>
          </a:p>
        </p:txBody>
      </p:sp>
      <p:sp>
        <p:nvSpPr>
          <p:cNvPr id="7" name="Text 5"/>
          <p:cNvSpPr/>
          <p:nvPr/>
        </p:nvSpPr>
        <p:spPr>
          <a:xfrm>
            <a:off x="987552" y="3200400"/>
            <a:ext cx="4562856" cy="777240"/>
          </a:xfrm>
          <a:prstGeom prst="rect">
            <a:avLst/>
          </a:prstGeom>
          <a:noFill/>
          <a:ln/>
        </p:spPr>
        <p:txBody>
          <a:bodyPr wrap="square" lIns="0" tIns="0" rIns="0" bIns="0" rtlCol="0" anchor="t"/>
          <a:lstStyle/>
          <a:p>
            <a:pPr indent="0" marL="0">
              <a:lnSpc>
                <a:spcPts val="1900"/>
              </a:lnSpc>
              <a:buNone/>
            </a:pPr>
            <a:r>
              <a:rPr lang="en-US" sz="1350" b="1" i="1" dirty="0">
                <a:solidFill>
                  <a:srgbClr val="1D5C9B"/>
                </a:solidFill>
                <a:latin typeface="Calibri" pitchFamily="34" charset="0"/>
                <a:ea typeface="Calibri" pitchFamily="34" charset="-122"/>
                <a:cs typeface="Calibri" pitchFamily="34" charset="-120"/>
              </a:rPr>
              <a:t>No context, no constraints, no source demand. That was the point.</a:t>
            </a:r>
            <a:endParaRPr lang="en-US" sz="1350" dirty="0"/>
          </a:p>
        </p:txBody>
      </p:sp>
      <p:sp>
        <p:nvSpPr>
          <p:cNvPr id="8" name="Shape 6"/>
          <p:cNvSpPr/>
          <p:nvPr/>
        </p:nvSpPr>
        <p:spPr>
          <a:xfrm>
            <a:off x="6263640" y="1463040"/>
            <a:ext cx="5257800" cy="2697480"/>
          </a:xfrm>
          <a:prstGeom prst="roundRect">
            <a:avLst>
              <a:gd name="adj" fmla="val 2712"/>
            </a:avLst>
          </a:prstGeom>
          <a:solidFill>
            <a:srgbClr val="DCE6F0"/>
          </a:solidFill>
          <a:ln w="12700">
            <a:solidFill>
              <a:srgbClr val="C3D3E3"/>
            </a:solidFill>
            <a:prstDash val="solid"/>
          </a:ln>
          <a:effectLst>
            <a:outerShdw sx="100000" sy="100000" kx="0" ky="0" algn="bl" rotWithShape="0" blurRad="152400" dist="25400" dir="5400000">
              <a:srgbClr val="000000">
                <a:alpha val="8000"/>
              </a:srgbClr>
            </a:outerShdw>
          </a:effectLst>
        </p:spPr>
      </p:sp>
      <p:sp>
        <p:nvSpPr>
          <p:cNvPr id="9" name="Text 7"/>
          <p:cNvSpPr/>
          <p:nvPr/>
        </p:nvSpPr>
        <p:spPr>
          <a:xfrm>
            <a:off x="6611112" y="1719072"/>
            <a:ext cx="4562856" cy="256032"/>
          </a:xfrm>
          <a:prstGeom prst="rect">
            <a:avLst/>
          </a:prstGeom>
          <a:noFill/>
          <a:ln/>
        </p:spPr>
        <p:txBody>
          <a:bodyPr wrap="square" lIns="0" tIns="0" rIns="0" bIns="0" rtlCol="0" anchor="ctr"/>
          <a:lstStyle/>
          <a:p>
            <a:pPr indent="0" marL="0">
              <a:buNone/>
            </a:pPr>
            <a:r>
              <a:rPr lang="en-US" sz="1150" b="1" spc="200" kern="0" dirty="0">
                <a:solidFill>
                  <a:srgbClr val="3E6488"/>
                </a:solidFill>
                <a:latin typeface="Calibri" pitchFamily="34" charset="0"/>
                <a:ea typeface="Calibri" pitchFamily="34" charset="-122"/>
                <a:cs typeface="Calibri" pitchFamily="34" charset="-120"/>
              </a:rPr>
              <a:t>WHAT CAME BACK</a:t>
            </a:r>
            <a:endParaRPr lang="en-US" sz="1150" dirty="0"/>
          </a:p>
        </p:txBody>
      </p:sp>
      <p:sp>
        <p:nvSpPr>
          <p:cNvPr id="10" name="Text 8"/>
          <p:cNvSpPr/>
          <p:nvPr/>
        </p:nvSpPr>
        <p:spPr>
          <a:xfrm>
            <a:off x="6611112" y="2057400"/>
            <a:ext cx="4562856" cy="1874520"/>
          </a:xfrm>
          <a:prstGeom prst="rect">
            <a:avLst/>
          </a:prstGeom>
          <a:noFill/>
          <a:ln/>
        </p:spPr>
        <p:txBody>
          <a:bodyPr wrap="square" lIns="0" tIns="0" rIns="0" bIns="0" rtlCol="0" anchor="t"/>
          <a:lstStyle/>
          <a:p>
            <a:pPr indent="0" marL="0">
              <a:lnSpc>
                <a:spcPts val="2100"/>
              </a:lnSpc>
              <a:buNone/>
            </a:pPr>
            <a:r>
              <a:rPr lang="en-US" sz="1450" dirty="0">
                <a:solidFill>
                  <a:srgbClr val="16212E"/>
                </a:solidFill>
                <a:latin typeface="Calibri" pitchFamily="34" charset="0"/>
                <a:ea typeface="Calibri" pitchFamily="34" charset="-122"/>
                <a:cs typeface="Calibri" pitchFamily="34" charset="-120"/>
              </a:rPr>
              <a:t>Six interventions: ergonomic wearables, predictive fatigue management, workforce analytics, knowledge capture, adaptive interfaces and phased retirement. None tied to a country, a company or a product, and not one figure, date or source to check.</a:t>
            </a:r>
            <a:endParaRPr lang="en-US" sz="1450" dirty="0"/>
          </a:p>
        </p:txBody>
      </p:sp>
      <p:sp>
        <p:nvSpPr>
          <p:cNvPr id="11" name="Text 9"/>
          <p:cNvSpPr/>
          <p:nvPr/>
        </p:nvSpPr>
        <p:spPr>
          <a:xfrm>
            <a:off x="640080" y="4434840"/>
            <a:ext cx="5486400" cy="274320"/>
          </a:xfrm>
          <a:prstGeom prst="rect">
            <a:avLst/>
          </a:prstGeom>
          <a:noFill/>
          <a:ln/>
        </p:spPr>
        <p:txBody>
          <a:bodyPr wrap="square" lIns="0" tIns="0" rIns="0" bIns="0" rtlCol="0" anchor="ctr"/>
          <a:lstStyle/>
          <a:p>
            <a:pPr indent="0" marL="0">
              <a:buNone/>
            </a:pPr>
            <a:r>
              <a:rPr lang="en-US" sz="1150" b="1" spc="200" kern="0" dirty="0">
                <a:solidFill>
                  <a:srgbClr val="1D5C9B"/>
                </a:solidFill>
                <a:latin typeface="Calibri" pitchFamily="34" charset="0"/>
                <a:ea typeface="Calibri" pitchFamily="34" charset="-122"/>
                <a:cs typeface="Calibri" pitchFamily="34" charset="-120"/>
              </a:rPr>
              <a:t>CRAAP EVALUATION</a:t>
            </a:r>
            <a:endParaRPr lang="en-US" sz="1150" dirty="0"/>
          </a:p>
        </p:txBody>
      </p:sp>
      <p:sp>
        <p:nvSpPr>
          <p:cNvPr id="12" name="Shape 10"/>
          <p:cNvSpPr/>
          <p:nvPr/>
        </p:nvSpPr>
        <p:spPr>
          <a:xfrm>
            <a:off x="640080" y="4800600"/>
            <a:ext cx="3456432" cy="1280160"/>
          </a:xfrm>
          <a:prstGeom prst="roundRect">
            <a:avLst>
              <a:gd name="adj" fmla="val 5000"/>
            </a:avLst>
          </a:prstGeom>
          <a:solidFill>
            <a:srgbClr val="F8FAFC"/>
          </a:solidFill>
          <a:ln w="12700">
            <a:solidFill>
              <a:srgbClr val="DCE4EC"/>
            </a:solidFill>
            <a:prstDash val="solid"/>
          </a:ln>
        </p:spPr>
      </p:sp>
      <p:sp>
        <p:nvSpPr>
          <p:cNvPr id="13" name="Text 11"/>
          <p:cNvSpPr/>
          <p:nvPr/>
        </p:nvSpPr>
        <p:spPr>
          <a:xfrm>
            <a:off x="896112" y="4956048"/>
            <a:ext cx="2944368" cy="292608"/>
          </a:xfrm>
          <a:prstGeom prst="rect">
            <a:avLst/>
          </a:prstGeom>
          <a:noFill/>
          <a:ln/>
        </p:spPr>
        <p:txBody>
          <a:bodyPr wrap="square" lIns="0" tIns="0" rIns="0" bIns="0" rtlCol="0" anchor="ctr"/>
          <a:lstStyle/>
          <a:p>
            <a:pPr indent="0" marL="0">
              <a:buNone/>
            </a:pPr>
            <a:r>
              <a:rPr lang="en-US" sz="1500" b="1" dirty="0">
                <a:solidFill>
                  <a:srgbClr val="1D5C9B"/>
                </a:solidFill>
                <a:latin typeface="Cambria" pitchFamily="34" charset="0"/>
                <a:ea typeface="Cambria" pitchFamily="34" charset="-122"/>
                <a:cs typeface="Cambria" pitchFamily="34" charset="-120"/>
              </a:rPr>
              <a:t>Relevance</a:t>
            </a:r>
            <a:endParaRPr lang="en-US" sz="1500" dirty="0"/>
          </a:p>
        </p:txBody>
      </p:sp>
      <p:sp>
        <p:nvSpPr>
          <p:cNvPr id="14" name="Text 12"/>
          <p:cNvSpPr/>
          <p:nvPr/>
        </p:nvSpPr>
        <p:spPr>
          <a:xfrm>
            <a:off x="896112" y="5285232"/>
            <a:ext cx="2944368" cy="713232"/>
          </a:xfrm>
          <a:prstGeom prst="rect">
            <a:avLst/>
          </a:prstGeom>
          <a:noFill/>
          <a:ln/>
        </p:spPr>
        <p:txBody>
          <a:bodyPr wrap="square" lIns="0" tIns="0" rIns="0" bIns="0" rtlCol="0" anchor="t"/>
          <a:lstStyle/>
          <a:p>
            <a:pPr indent="0" marL="0">
              <a:lnSpc>
                <a:spcPts val="1700"/>
              </a:lnSpc>
              <a:buNone/>
            </a:pPr>
            <a:r>
              <a:rPr lang="en-US" sz="1250" dirty="0">
                <a:solidFill>
                  <a:srgbClr val="16212E"/>
                </a:solidFill>
                <a:latin typeface="Calibri" pitchFamily="34" charset="0"/>
                <a:ea typeface="Calibri" pitchFamily="34" charset="-122"/>
                <a:cs typeface="Calibri" pitchFamily="34" charset="-120"/>
              </a:rPr>
              <a:t>Nothing in it is specific to Australia, to road freight, or to Followmont.</a:t>
            </a:r>
            <a:endParaRPr lang="en-US" sz="1250" dirty="0"/>
          </a:p>
        </p:txBody>
      </p:sp>
      <p:sp>
        <p:nvSpPr>
          <p:cNvPr id="15" name="Shape 13"/>
          <p:cNvSpPr/>
          <p:nvPr/>
        </p:nvSpPr>
        <p:spPr>
          <a:xfrm>
            <a:off x="4352544" y="4800600"/>
            <a:ext cx="3456432" cy="1280160"/>
          </a:xfrm>
          <a:prstGeom prst="roundRect">
            <a:avLst>
              <a:gd name="adj" fmla="val 5000"/>
            </a:avLst>
          </a:prstGeom>
          <a:solidFill>
            <a:srgbClr val="F8FAFC"/>
          </a:solidFill>
          <a:ln w="12700">
            <a:solidFill>
              <a:srgbClr val="DCE4EC"/>
            </a:solidFill>
            <a:prstDash val="solid"/>
          </a:ln>
        </p:spPr>
      </p:sp>
      <p:sp>
        <p:nvSpPr>
          <p:cNvPr id="16" name="Text 14"/>
          <p:cNvSpPr/>
          <p:nvPr/>
        </p:nvSpPr>
        <p:spPr>
          <a:xfrm>
            <a:off x="4608576" y="4956048"/>
            <a:ext cx="2944368" cy="292608"/>
          </a:xfrm>
          <a:prstGeom prst="rect">
            <a:avLst/>
          </a:prstGeom>
          <a:noFill/>
          <a:ln/>
        </p:spPr>
        <p:txBody>
          <a:bodyPr wrap="square" lIns="0" tIns="0" rIns="0" bIns="0" rtlCol="0" anchor="ctr"/>
          <a:lstStyle/>
          <a:p>
            <a:pPr indent="0" marL="0">
              <a:buNone/>
            </a:pPr>
            <a:r>
              <a:rPr lang="en-US" sz="1500" b="1" dirty="0">
                <a:solidFill>
                  <a:srgbClr val="1D5C9B"/>
                </a:solidFill>
                <a:latin typeface="Cambria" pitchFamily="34" charset="0"/>
                <a:ea typeface="Cambria" pitchFamily="34" charset="-122"/>
                <a:cs typeface="Cambria" pitchFamily="34" charset="-120"/>
              </a:rPr>
              <a:t>Accuracy</a:t>
            </a:r>
            <a:endParaRPr lang="en-US" sz="1500" dirty="0"/>
          </a:p>
        </p:txBody>
      </p:sp>
      <p:sp>
        <p:nvSpPr>
          <p:cNvPr id="17" name="Text 15"/>
          <p:cNvSpPr/>
          <p:nvPr/>
        </p:nvSpPr>
        <p:spPr>
          <a:xfrm>
            <a:off x="4608576" y="5285232"/>
            <a:ext cx="2944368" cy="713232"/>
          </a:xfrm>
          <a:prstGeom prst="rect">
            <a:avLst/>
          </a:prstGeom>
          <a:noFill/>
          <a:ln/>
        </p:spPr>
        <p:txBody>
          <a:bodyPr wrap="square" lIns="0" tIns="0" rIns="0" bIns="0" rtlCol="0" anchor="t"/>
          <a:lstStyle/>
          <a:p>
            <a:pPr indent="0" marL="0">
              <a:lnSpc>
                <a:spcPts val="1700"/>
              </a:lnSpc>
              <a:buNone/>
            </a:pPr>
            <a:r>
              <a:rPr lang="en-US" sz="1250" dirty="0">
                <a:solidFill>
                  <a:srgbClr val="16212E"/>
                </a:solidFill>
                <a:latin typeface="Calibri" pitchFamily="34" charset="0"/>
                <a:ea typeface="Calibri" pitchFamily="34" charset="-122"/>
                <a:cs typeface="Calibri" pitchFamily="34" charset="-120"/>
              </a:rPr>
              <a:t>No figures and no sources. There's nothing to check.</a:t>
            </a:r>
            <a:endParaRPr lang="en-US" sz="1250" dirty="0"/>
          </a:p>
        </p:txBody>
      </p:sp>
      <p:sp>
        <p:nvSpPr>
          <p:cNvPr id="18" name="Shape 16"/>
          <p:cNvSpPr/>
          <p:nvPr/>
        </p:nvSpPr>
        <p:spPr>
          <a:xfrm>
            <a:off x="8065008" y="4800600"/>
            <a:ext cx="3456432" cy="1280160"/>
          </a:xfrm>
          <a:prstGeom prst="roundRect">
            <a:avLst>
              <a:gd name="adj" fmla="val 5000"/>
            </a:avLst>
          </a:prstGeom>
          <a:solidFill>
            <a:srgbClr val="F8FAFC"/>
          </a:solidFill>
          <a:ln w="12700">
            <a:solidFill>
              <a:srgbClr val="DCE4EC"/>
            </a:solidFill>
            <a:prstDash val="solid"/>
          </a:ln>
        </p:spPr>
      </p:sp>
      <p:sp>
        <p:nvSpPr>
          <p:cNvPr id="19" name="Text 17"/>
          <p:cNvSpPr/>
          <p:nvPr/>
        </p:nvSpPr>
        <p:spPr>
          <a:xfrm>
            <a:off x="8321040" y="4956048"/>
            <a:ext cx="2944368" cy="292608"/>
          </a:xfrm>
          <a:prstGeom prst="rect">
            <a:avLst/>
          </a:prstGeom>
          <a:noFill/>
          <a:ln/>
        </p:spPr>
        <p:txBody>
          <a:bodyPr wrap="square" lIns="0" tIns="0" rIns="0" bIns="0" rtlCol="0" anchor="ctr"/>
          <a:lstStyle/>
          <a:p>
            <a:pPr indent="0" marL="0">
              <a:buNone/>
            </a:pPr>
            <a:r>
              <a:rPr lang="en-US" sz="1500" b="1" dirty="0">
                <a:solidFill>
                  <a:srgbClr val="1D5C9B"/>
                </a:solidFill>
                <a:latin typeface="Cambria" pitchFamily="34" charset="0"/>
                <a:ea typeface="Cambria" pitchFamily="34" charset="-122"/>
                <a:cs typeface="Cambria" pitchFamily="34" charset="-120"/>
              </a:rPr>
              <a:t>Currency</a:t>
            </a:r>
            <a:endParaRPr lang="en-US" sz="1500" dirty="0"/>
          </a:p>
        </p:txBody>
      </p:sp>
      <p:sp>
        <p:nvSpPr>
          <p:cNvPr id="20" name="Text 18"/>
          <p:cNvSpPr/>
          <p:nvPr/>
        </p:nvSpPr>
        <p:spPr>
          <a:xfrm>
            <a:off x="8321040" y="5285232"/>
            <a:ext cx="2944368" cy="713232"/>
          </a:xfrm>
          <a:prstGeom prst="rect">
            <a:avLst/>
          </a:prstGeom>
          <a:noFill/>
          <a:ln/>
        </p:spPr>
        <p:txBody>
          <a:bodyPr wrap="square" lIns="0" tIns="0" rIns="0" bIns="0" rtlCol="0" anchor="t"/>
          <a:lstStyle/>
          <a:p>
            <a:pPr indent="0" marL="0">
              <a:lnSpc>
                <a:spcPts val="1700"/>
              </a:lnSpc>
              <a:buNone/>
            </a:pPr>
            <a:r>
              <a:rPr lang="en-US" sz="1250" dirty="0">
                <a:solidFill>
                  <a:srgbClr val="16212E"/>
                </a:solidFill>
                <a:latin typeface="Calibri" pitchFamily="34" charset="0"/>
                <a:ea typeface="Calibri" pitchFamily="34" charset="-122"/>
                <a:cs typeface="Calibri" pitchFamily="34" charset="-120"/>
              </a:rPr>
              <a:t>No dates anywhere. The same list would have read the same in 2015.</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280160" cy="868680"/>
          </a:xfrm>
          <a:prstGeom prst="rect">
            <a:avLst/>
          </a:prstGeom>
          <a:noFill/>
          <a:ln/>
        </p:spPr>
        <p:txBody>
          <a:bodyPr wrap="square" lIns="0" tIns="0" rIns="0" bIns="0" rtlCol="0" anchor="ctr"/>
          <a:lstStyle/>
          <a:p>
            <a:pPr indent="0" marL="0">
              <a:buNone/>
            </a:pPr>
            <a:r>
              <a:rPr lang="en-US" sz="5000" b="1" dirty="0">
                <a:solidFill>
                  <a:srgbClr val="1D5C9B"/>
                </a:solidFill>
                <a:latin typeface="Cambria" pitchFamily="34" charset="0"/>
                <a:ea typeface="Cambria" pitchFamily="34" charset="-122"/>
                <a:cs typeface="Cambria" pitchFamily="34" charset="-120"/>
              </a:rPr>
              <a:t>03</a:t>
            </a:r>
            <a:endParaRPr lang="en-US" sz="5000" dirty="0"/>
          </a:p>
        </p:txBody>
      </p:sp>
      <p:sp>
        <p:nvSpPr>
          <p:cNvPr id="3" name="Text 1"/>
          <p:cNvSpPr/>
          <p:nvPr/>
        </p:nvSpPr>
        <p:spPr>
          <a:xfrm>
            <a:off x="1783080" y="411480"/>
            <a:ext cx="9692640" cy="868680"/>
          </a:xfrm>
          <a:prstGeom prst="rect">
            <a:avLst/>
          </a:prstGeom>
          <a:noFill/>
          <a:ln/>
        </p:spPr>
        <p:txBody>
          <a:bodyPr wrap="square" lIns="0" tIns="0" rIns="0" bIns="0" rtlCol="0" anchor="ctr"/>
          <a:lstStyle/>
          <a:p>
            <a:pPr indent="0" marL="0">
              <a:buNone/>
            </a:pPr>
            <a:r>
              <a:rPr lang="en-US" sz="3600" b="1" dirty="0">
                <a:solidFill>
                  <a:srgbClr val="16212E"/>
                </a:solidFill>
                <a:latin typeface="Cambria" pitchFamily="34" charset="0"/>
                <a:ea typeface="Cambria" pitchFamily="34" charset="-122"/>
                <a:cs typeface="Cambria" pitchFamily="34" charset="-120"/>
              </a:rPr>
              <a:t>Add the client</a:t>
            </a:r>
            <a:endParaRPr lang="en-US" sz="3600" dirty="0"/>
          </a:p>
        </p:txBody>
      </p:sp>
      <p:sp>
        <p:nvSpPr>
          <p:cNvPr id="4" name="Shape 2"/>
          <p:cNvSpPr/>
          <p:nvPr/>
        </p:nvSpPr>
        <p:spPr>
          <a:xfrm>
            <a:off x="640080" y="1463040"/>
            <a:ext cx="5257800" cy="2697480"/>
          </a:xfrm>
          <a:prstGeom prst="roundRect">
            <a:avLst>
              <a:gd name="adj" fmla="val 2712"/>
            </a:avLst>
          </a:prstGeom>
          <a:solidFill>
            <a:srgbClr val="F2F5F8"/>
          </a:solidFill>
          <a:ln w="12700">
            <a:solidFill>
              <a:srgbClr val="E1E8EF"/>
            </a:solidFill>
            <a:prstDash val="solid"/>
          </a:ln>
          <a:effectLst>
            <a:outerShdw sx="100000" sy="100000" kx="0" ky="0" algn="bl" rotWithShape="0" blurRad="152400" dist="25400" dir="5400000">
              <a:srgbClr val="000000">
                <a:alpha val="8000"/>
              </a:srgbClr>
            </a:outerShdw>
          </a:effectLst>
        </p:spPr>
      </p:sp>
      <p:sp>
        <p:nvSpPr>
          <p:cNvPr id="5" name="Text 3"/>
          <p:cNvSpPr/>
          <p:nvPr/>
        </p:nvSpPr>
        <p:spPr>
          <a:xfrm>
            <a:off x="987552" y="1719072"/>
            <a:ext cx="4562856" cy="256032"/>
          </a:xfrm>
          <a:prstGeom prst="rect">
            <a:avLst/>
          </a:prstGeom>
          <a:noFill/>
          <a:ln/>
        </p:spPr>
        <p:txBody>
          <a:bodyPr wrap="square" lIns="0" tIns="0" rIns="0" bIns="0" rtlCol="0" anchor="ctr"/>
          <a:lstStyle/>
          <a:p>
            <a:pPr indent="0" marL="0">
              <a:buNone/>
            </a:pPr>
            <a:r>
              <a:rPr lang="en-US" sz="1150" b="1" spc="200" kern="0" dirty="0">
                <a:solidFill>
                  <a:srgbClr val="6B7787"/>
                </a:solidFill>
                <a:latin typeface="Calibri" pitchFamily="34" charset="0"/>
                <a:ea typeface="Calibri" pitchFamily="34" charset="-122"/>
                <a:cs typeface="Calibri" pitchFamily="34" charset="-120"/>
              </a:rPr>
              <a:t>WHAT I ASKED</a:t>
            </a:r>
            <a:endParaRPr lang="en-US" sz="1150" dirty="0"/>
          </a:p>
        </p:txBody>
      </p:sp>
      <p:sp>
        <p:nvSpPr>
          <p:cNvPr id="6" name="Text 4"/>
          <p:cNvSpPr/>
          <p:nvPr/>
        </p:nvSpPr>
        <p:spPr>
          <a:xfrm>
            <a:off x="987552" y="2057400"/>
            <a:ext cx="4562856" cy="1051560"/>
          </a:xfrm>
          <a:prstGeom prst="rect">
            <a:avLst/>
          </a:prstGeom>
          <a:noFill/>
          <a:ln/>
        </p:spPr>
        <p:txBody>
          <a:bodyPr wrap="square" lIns="0" tIns="0" rIns="0" bIns="0" rtlCol="0" anchor="t"/>
          <a:lstStyle/>
          <a:p>
            <a:pPr indent="0" marL="0">
              <a:lnSpc>
                <a:spcPts val="2100"/>
              </a:lnSpc>
              <a:buNone/>
            </a:pPr>
            <a:r>
              <a:rPr lang="en-US" sz="1450" dirty="0">
                <a:solidFill>
                  <a:srgbClr val="16212E"/>
                </a:solidFill>
                <a:latin typeface="Calibri" pitchFamily="34" charset="0"/>
                <a:ea typeface="Calibri" pitchFamily="34" charset="-122"/>
                <a:cs typeface="Calibri" pitchFamily="34" charset="-120"/>
              </a:rPr>
              <a:t>Here is Followmont, and here is the technology they already run — don't propose it again. Pick one technology and aim it at one barrier: the physical load of the job.</a:t>
            </a:r>
            <a:endParaRPr lang="en-US" sz="1450" dirty="0"/>
          </a:p>
        </p:txBody>
      </p:sp>
      <p:sp>
        <p:nvSpPr>
          <p:cNvPr id="7" name="Text 5"/>
          <p:cNvSpPr/>
          <p:nvPr/>
        </p:nvSpPr>
        <p:spPr>
          <a:xfrm>
            <a:off x="987552" y="3200400"/>
            <a:ext cx="4562856" cy="777240"/>
          </a:xfrm>
          <a:prstGeom prst="rect">
            <a:avLst/>
          </a:prstGeom>
          <a:noFill/>
          <a:ln/>
        </p:spPr>
        <p:txBody>
          <a:bodyPr wrap="square" lIns="0" tIns="0" rIns="0" bIns="0" rtlCol="0" anchor="t"/>
          <a:lstStyle/>
          <a:p>
            <a:pPr indent="0" marL="0">
              <a:lnSpc>
                <a:spcPts val="1900"/>
              </a:lnSpc>
              <a:buNone/>
            </a:pPr>
            <a:r>
              <a:rPr lang="en-US" sz="1350" b="1" i="1" dirty="0">
                <a:solidFill>
                  <a:srgbClr val="1D5C9B"/>
                </a:solidFill>
                <a:latin typeface="Calibri" pitchFamily="34" charset="0"/>
                <a:ea typeface="Calibri" pitchFamily="34" charset="-122"/>
                <a:cs typeface="Calibri" pitchFamily="34" charset="-120"/>
              </a:rPr>
              <a:t>“Name something specific enough that I could search for vendors.”  ·  “Where your evidence comes from outside Australia, say so.”</a:t>
            </a:r>
            <a:endParaRPr lang="en-US" sz="1350" dirty="0"/>
          </a:p>
        </p:txBody>
      </p:sp>
      <p:sp>
        <p:nvSpPr>
          <p:cNvPr id="8" name="Shape 6"/>
          <p:cNvSpPr/>
          <p:nvPr/>
        </p:nvSpPr>
        <p:spPr>
          <a:xfrm>
            <a:off x="6263640" y="1463040"/>
            <a:ext cx="5257800" cy="2697480"/>
          </a:xfrm>
          <a:prstGeom prst="roundRect">
            <a:avLst>
              <a:gd name="adj" fmla="val 2712"/>
            </a:avLst>
          </a:prstGeom>
          <a:solidFill>
            <a:srgbClr val="DCE6F0"/>
          </a:solidFill>
          <a:ln w="12700">
            <a:solidFill>
              <a:srgbClr val="C3D3E3"/>
            </a:solidFill>
            <a:prstDash val="solid"/>
          </a:ln>
          <a:effectLst>
            <a:outerShdw sx="100000" sy="100000" kx="0" ky="0" algn="bl" rotWithShape="0" blurRad="152400" dist="25400" dir="5400000">
              <a:srgbClr val="000000">
                <a:alpha val="8000"/>
              </a:srgbClr>
            </a:outerShdw>
          </a:effectLst>
        </p:spPr>
      </p:sp>
      <p:sp>
        <p:nvSpPr>
          <p:cNvPr id="9" name="Text 7"/>
          <p:cNvSpPr/>
          <p:nvPr/>
        </p:nvSpPr>
        <p:spPr>
          <a:xfrm>
            <a:off x="6611112" y="1719072"/>
            <a:ext cx="4562856" cy="256032"/>
          </a:xfrm>
          <a:prstGeom prst="rect">
            <a:avLst/>
          </a:prstGeom>
          <a:noFill/>
          <a:ln/>
        </p:spPr>
        <p:txBody>
          <a:bodyPr wrap="square" lIns="0" tIns="0" rIns="0" bIns="0" rtlCol="0" anchor="ctr"/>
          <a:lstStyle/>
          <a:p>
            <a:pPr indent="0" marL="0">
              <a:buNone/>
            </a:pPr>
            <a:r>
              <a:rPr lang="en-US" sz="1150" b="1" spc="200" kern="0" dirty="0">
                <a:solidFill>
                  <a:srgbClr val="3E6488"/>
                </a:solidFill>
                <a:latin typeface="Calibri" pitchFamily="34" charset="0"/>
                <a:ea typeface="Calibri" pitchFamily="34" charset="-122"/>
                <a:cs typeface="Calibri" pitchFamily="34" charset="-120"/>
              </a:rPr>
              <a:t>WHAT CAME BACK</a:t>
            </a:r>
            <a:endParaRPr lang="en-US" sz="1150" dirty="0"/>
          </a:p>
        </p:txBody>
      </p:sp>
      <p:sp>
        <p:nvSpPr>
          <p:cNvPr id="10" name="Text 8"/>
          <p:cNvSpPr/>
          <p:nvPr/>
        </p:nvSpPr>
        <p:spPr>
          <a:xfrm>
            <a:off x="6611112" y="2057400"/>
            <a:ext cx="4562856" cy="1874520"/>
          </a:xfrm>
          <a:prstGeom prst="rect">
            <a:avLst/>
          </a:prstGeom>
          <a:noFill/>
          <a:ln/>
        </p:spPr>
        <p:txBody>
          <a:bodyPr wrap="square" lIns="0" tIns="0" rIns="0" bIns="0" rtlCol="0" anchor="t"/>
          <a:lstStyle/>
          <a:p>
            <a:pPr indent="0" marL="0">
              <a:lnSpc>
                <a:spcPts val="2100"/>
              </a:lnSpc>
              <a:buNone/>
            </a:pPr>
            <a:r>
              <a:rPr lang="en-US" sz="1450" dirty="0">
                <a:solidFill>
                  <a:srgbClr val="16212E"/>
                </a:solidFill>
                <a:latin typeface="Calibri" pitchFamily="34" charset="0"/>
                <a:ea typeface="Calibri" pitchFamily="34" charset="-122"/>
                <a:cs typeface="Calibri" pitchFamily="34" charset="-120"/>
              </a:rPr>
              <a:t>Exoskeletons for manual freight handling — five commercial vendors named, a price range attached, and a full case covering evidence, barriers, enablers and cost. Still not one source, and still no Australian regulation.</a:t>
            </a:r>
            <a:endParaRPr lang="en-US" sz="1450" dirty="0"/>
          </a:p>
        </p:txBody>
      </p:sp>
      <p:sp>
        <p:nvSpPr>
          <p:cNvPr id="11" name="Text 9"/>
          <p:cNvSpPr/>
          <p:nvPr/>
        </p:nvSpPr>
        <p:spPr>
          <a:xfrm>
            <a:off x="640080" y="4434840"/>
            <a:ext cx="5486400" cy="274320"/>
          </a:xfrm>
          <a:prstGeom prst="rect">
            <a:avLst/>
          </a:prstGeom>
          <a:noFill/>
          <a:ln/>
        </p:spPr>
        <p:txBody>
          <a:bodyPr wrap="square" lIns="0" tIns="0" rIns="0" bIns="0" rtlCol="0" anchor="ctr"/>
          <a:lstStyle/>
          <a:p>
            <a:pPr indent="0" marL="0">
              <a:buNone/>
            </a:pPr>
            <a:r>
              <a:rPr lang="en-US" sz="1150" b="1" spc="200" kern="0" dirty="0">
                <a:solidFill>
                  <a:srgbClr val="1D5C9B"/>
                </a:solidFill>
                <a:latin typeface="Calibri" pitchFamily="34" charset="0"/>
                <a:ea typeface="Calibri" pitchFamily="34" charset="-122"/>
                <a:cs typeface="Calibri" pitchFamily="34" charset="-120"/>
              </a:rPr>
              <a:t>CRAAP EVALUATION</a:t>
            </a:r>
            <a:endParaRPr lang="en-US" sz="1150" dirty="0"/>
          </a:p>
        </p:txBody>
      </p:sp>
      <p:sp>
        <p:nvSpPr>
          <p:cNvPr id="12" name="Shape 10"/>
          <p:cNvSpPr/>
          <p:nvPr/>
        </p:nvSpPr>
        <p:spPr>
          <a:xfrm>
            <a:off x="640080" y="4800600"/>
            <a:ext cx="3456432" cy="1280160"/>
          </a:xfrm>
          <a:prstGeom prst="roundRect">
            <a:avLst>
              <a:gd name="adj" fmla="val 5000"/>
            </a:avLst>
          </a:prstGeom>
          <a:solidFill>
            <a:srgbClr val="F8FAFC"/>
          </a:solidFill>
          <a:ln w="12700">
            <a:solidFill>
              <a:srgbClr val="DCE4EC"/>
            </a:solidFill>
            <a:prstDash val="solid"/>
          </a:ln>
        </p:spPr>
      </p:sp>
      <p:sp>
        <p:nvSpPr>
          <p:cNvPr id="13" name="Text 11"/>
          <p:cNvSpPr/>
          <p:nvPr/>
        </p:nvSpPr>
        <p:spPr>
          <a:xfrm>
            <a:off x="896112" y="4956048"/>
            <a:ext cx="2944368" cy="292608"/>
          </a:xfrm>
          <a:prstGeom prst="rect">
            <a:avLst/>
          </a:prstGeom>
          <a:noFill/>
          <a:ln/>
        </p:spPr>
        <p:txBody>
          <a:bodyPr wrap="square" lIns="0" tIns="0" rIns="0" bIns="0" rtlCol="0" anchor="ctr"/>
          <a:lstStyle/>
          <a:p>
            <a:pPr indent="0" marL="0">
              <a:buNone/>
            </a:pPr>
            <a:r>
              <a:rPr lang="en-US" sz="1500" b="1" dirty="0">
                <a:solidFill>
                  <a:srgbClr val="1D5C9B"/>
                </a:solidFill>
                <a:latin typeface="Cambria" pitchFamily="34" charset="0"/>
                <a:ea typeface="Cambria" pitchFamily="34" charset="-122"/>
                <a:cs typeface="Cambria" pitchFamily="34" charset="-120"/>
              </a:rPr>
              <a:t>Relevance</a:t>
            </a:r>
            <a:endParaRPr lang="en-US" sz="1500" dirty="0"/>
          </a:p>
        </p:txBody>
      </p:sp>
      <p:sp>
        <p:nvSpPr>
          <p:cNvPr id="14" name="Text 12"/>
          <p:cNvSpPr/>
          <p:nvPr/>
        </p:nvSpPr>
        <p:spPr>
          <a:xfrm>
            <a:off x="896112" y="5285232"/>
            <a:ext cx="2944368" cy="713232"/>
          </a:xfrm>
          <a:prstGeom prst="rect">
            <a:avLst/>
          </a:prstGeom>
          <a:noFill/>
          <a:ln/>
        </p:spPr>
        <p:txBody>
          <a:bodyPr wrap="square" lIns="0" tIns="0" rIns="0" bIns="0" rtlCol="0" anchor="t"/>
          <a:lstStyle/>
          <a:p>
            <a:pPr indent="0" marL="0">
              <a:lnSpc>
                <a:spcPts val="1700"/>
              </a:lnSpc>
              <a:buNone/>
            </a:pPr>
            <a:r>
              <a:rPr lang="en-US" sz="1250" dirty="0">
                <a:solidFill>
                  <a:srgbClr val="16212E"/>
                </a:solidFill>
                <a:latin typeface="Calibri" pitchFamily="34" charset="0"/>
                <a:ea typeface="Calibri" pitchFamily="34" charset="-122"/>
                <a:cs typeface="Calibri" pitchFamily="34" charset="-120"/>
              </a:rPr>
              <a:t>It got the company right. The evidence stayed generic.</a:t>
            </a:r>
            <a:endParaRPr lang="en-US" sz="1250" dirty="0"/>
          </a:p>
        </p:txBody>
      </p:sp>
      <p:sp>
        <p:nvSpPr>
          <p:cNvPr id="15" name="Shape 13"/>
          <p:cNvSpPr/>
          <p:nvPr/>
        </p:nvSpPr>
        <p:spPr>
          <a:xfrm>
            <a:off x="4352544" y="4800600"/>
            <a:ext cx="3456432" cy="1280160"/>
          </a:xfrm>
          <a:prstGeom prst="roundRect">
            <a:avLst>
              <a:gd name="adj" fmla="val 5000"/>
            </a:avLst>
          </a:prstGeom>
          <a:solidFill>
            <a:srgbClr val="F8FAFC"/>
          </a:solidFill>
          <a:ln w="12700">
            <a:solidFill>
              <a:srgbClr val="DCE4EC"/>
            </a:solidFill>
            <a:prstDash val="solid"/>
          </a:ln>
        </p:spPr>
      </p:sp>
      <p:sp>
        <p:nvSpPr>
          <p:cNvPr id="16" name="Text 14"/>
          <p:cNvSpPr/>
          <p:nvPr/>
        </p:nvSpPr>
        <p:spPr>
          <a:xfrm>
            <a:off x="4608576" y="4956048"/>
            <a:ext cx="2944368" cy="292608"/>
          </a:xfrm>
          <a:prstGeom prst="rect">
            <a:avLst/>
          </a:prstGeom>
          <a:noFill/>
          <a:ln/>
        </p:spPr>
        <p:txBody>
          <a:bodyPr wrap="square" lIns="0" tIns="0" rIns="0" bIns="0" rtlCol="0" anchor="ctr"/>
          <a:lstStyle/>
          <a:p>
            <a:pPr indent="0" marL="0">
              <a:buNone/>
            </a:pPr>
            <a:r>
              <a:rPr lang="en-US" sz="1500" b="1" dirty="0">
                <a:solidFill>
                  <a:srgbClr val="1D5C9B"/>
                </a:solidFill>
                <a:latin typeface="Cambria" pitchFamily="34" charset="0"/>
                <a:ea typeface="Cambria" pitchFamily="34" charset="-122"/>
                <a:cs typeface="Cambria" pitchFamily="34" charset="-120"/>
              </a:rPr>
              <a:t>Accuracy</a:t>
            </a:r>
            <a:endParaRPr lang="en-US" sz="1500" dirty="0"/>
          </a:p>
        </p:txBody>
      </p:sp>
      <p:sp>
        <p:nvSpPr>
          <p:cNvPr id="17" name="Text 15"/>
          <p:cNvSpPr/>
          <p:nvPr/>
        </p:nvSpPr>
        <p:spPr>
          <a:xfrm>
            <a:off x="4608576" y="5285232"/>
            <a:ext cx="2944368" cy="713232"/>
          </a:xfrm>
          <a:prstGeom prst="rect">
            <a:avLst/>
          </a:prstGeom>
          <a:noFill/>
          <a:ln/>
        </p:spPr>
        <p:txBody>
          <a:bodyPr wrap="square" lIns="0" tIns="0" rIns="0" bIns="0" rtlCol="0" anchor="t"/>
          <a:lstStyle/>
          <a:p>
            <a:pPr indent="0" marL="0">
              <a:lnSpc>
                <a:spcPts val="1700"/>
              </a:lnSpc>
              <a:buNone/>
            </a:pPr>
            <a:r>
              <a:rPr lang="en-US" sz="1250" dirty="0">
                <a:solidFill>
                  <a:srgbClr val="16212E"/>
                </a:solidFill>
                <a:latin typeface="Calibri" pitchFamily="34" charset="0"/>
                <a:ea typeface="Calibri" pitchFamily="34" charset="-122"/>
                <a:cs typeface="Calibri" pitchFamily="34" charset="-120"/>
              </a:rPr>
              <a:t>Exact figures appeared — 15–30% muscle activity, A$1,500–5,000 — with nothing behind them.</a:t>
            </a:r>
            <a:endParaRPr lang="en-US" sz="1250" dirty="0"/>
          </a:p>
        </p:txBody>
      </p:sp>
      <p:sp>
        <p:nvSpPr>
          <p:cNvPr id="18" name="Shape 16"/>
          <p:cNvSpPr/>
          <p:nvPr/>
        </p:nvSpPr>
        <p:spPr>
          <a:xfrm>
            <a:off x="8065008" y="4800600"/>
            <a:ext cx="3456432" cy="1280160"/>
          </a:xfrm>
          <a:prstGeom prst="roundRect">
            <a:avLst>
              <a:gd name="adj" fmla="val 5000"/>
            </a:avLst>
          </a:prstGeom>
          <a:solidFill>
            <a:srgbClr val="F8FAFC"/>
          </a:solidFill>
          <a:ln w="12700">
            <a:solidFill>
              <a:srgbClr val="DCE4EC"/>
            </a:solidFill>
            <a:prstDash val="solid"/>
          </a:ln>
        </p:spPr>
      </p:sp>
      <p:sp>
        <p:nvSpPr>
          <p:cNvPr id="19" name="Text 17"/>
          <p:cNvSpPr/>
          <p:nvPr/>
        </p:nvSpPr>
        <p:spPr>
          <a:xfrm>
            <a:off x="8321040" y="4956048"/>
            <a:ext cx="2944368" cy="292608"/>
          </a:xfrm>
          <a:prstGeom prst="rect">
            <a:avLst/>
          </a:prstGeom>
          <a:noFill/>
          <a:ln/>
        </p:spPr>
        <p:txBody>
          <a:bodyPr wrap="square" lIns="0" tIns="0" rIns="0" bIns="0" rtlCol="0" anchor="ctr"/>
          <a:lstStyle/>
          <a:p>
            <a:pPr indent="0" marL="0">
              <a:buNone/>
            </a:pPr>
            <a:r>
              <a:rPr lang="en-US" sz="1500" b="1" dirty="0">
                <a:solidFill>
                  <a:srgbClr val="1D5C9B"/>
                </a:solidFill>
                <a:latin typeface="Cambria" pitchFamily="34" charset="0"/>
                <a:ea typeface="Cambria" pitchFamily="34" charset="-122"/>
                <a:cs typeface="Cambria" pitchFamily="34" charset="-120"/>
              </a:rPr>
              <a:t>Purpose</a:t>
            </a:r>
            <a:endParaRPr lang="en-US" sz="1500" dirty="0"/>
          </a:p>
        </p:txBody>
      </p:sp>
      <p:sp>
        <p:nvSpPr>
          <p:cNvPr id="20" name="Text 18"/>
          <p:cNvSpPr/>
          <p:nvPr/>
        </p:nvSpPr>
        <p:spPr>
          <a:xfrm>
            <a:off x="8321040" y="5285232"/>
            <a:ext cx="2944368" cy="713232"/>
          </a:xfrm>
          <a:prstGeom prst="rect">
            <a:avLst/>
          </a:prstGeom>
          <a:noFill/>
          <a:ln/>
        </p:spPr>
        <p:txBody>
          <a:bodyPr wrap="square" lIns="0" tIns="0" rIns="0" bIns="0" rtlCol="0" anchor="t"/>
          <a:lstStyle/>
          <a:p>
            <a:pPr indent="0" marL="0">
              <a:lnSpc>
                <a:spcPts val="1700"/>
              </a:lnSpc>
              <a:buNone/>
            </a:pPr>
            <a:r>
              <a:rPr lang="en-US" sz="1250" dirty="0">
                <a:solidFill>
                  <a:srgbClr val="16212E"/>
                </a:solidFill>
                <a:latin typeface="Calibri" pitchFamily="34" charset="0"/>
                <a:ea typeface="Calibri" pitchFamily="34" charset="-122"/>
                <a:cs typeface="Calibri" pitchFamily="34" charset="-120"/>
              </a:rPr>
              <a:t>Five vendors named, none checked. It reads like a product recommendation.</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280160" cy="868680"/>
          </a:xfrm>
          <a:prstGeom prst="rect">
            <a:avLst/>
          </a:prstGeom>
          <a:noFill/>
          <a:ln/>
        </p:spPr>
        <p:txBody>
          <a:bodyPr wrap="square" lIns="0" tIns="0" rIns="0" bIns="0" rtlCol="0" anchor="ctr"/>
          <a:lstStyle/>
          <a:p>
            <a:pPr indent="0" marL="0">
              <a:buNone/>
            </a:pPr>
            <a:r>
              <a:rPr lang="en-US" sz="5000" b="1" dirty="0">
                <a:solidFill>
                  <a:srgbClr val="1D5C9B"/>
                </a:solidFill>
                <a:latin typeface="Cambria" pitchFamily="34" charset="0"/>
                <a:ea typeface="Cambria" pitchFamily="34" charset="-122"/>
                <a:cs typeface="Cambria" pitchFamily="34" charset="-120"/>
              </a:rPr>
              <a:t>04</a:t>
            </a:r>
            <a:endParaRPr lang="en-US" sz="5000" dirty="0"/>
          </a:p>
        </p:txBody>
      </p:sp>
      <p:sp>
        <p:nvSpPr>
          <p:cNvPr id="3" name="Text 1"/>
          <p:cNvSpPr/>
          <p:nvPr/>
        </p:nvSpPr>
        <p:spPr>
          <a:xfrm>
            <a:off x="1783080" y="411480"/>
            <a:ext cx="9692640" cy="868680"/>
          </a:xfrm>
          <a:prstGeom prst="rect">
            <a:avLst/>
          </a:prstGeom>
          <a:noFill/>
          <a:ln/>
        </p:spPr>
        <p:txBody>
          <a:bodyPr wrap="square" lIns="0" tIns="0" rIns="0" bIns="0" rtlCol="0" anchor="ctr"/>
          <a:lstStyle/>
          <a:p>
            <a:pPr indent="0" marL="0">
              <a:buNone/>
            </a:pPr>
            <a:r>
              <a:rPr lang="en-US" sz="3600" b="1" dirty="0">
                <a:solidFill>
                  <a:srgbClr val="16212E"/>
                </a:solidFill>
                <a:latin typeface="Cambria" pitchFamily="34" charset="0"/>
                <a:ea typeface="Cambria" pitchFamily="34" charset="-122"/>
                <a:cs typeface="Cambria" pitchFamily="34" charset="-120"/>
              </a:rPr>
              <a:t>Ask for receipts</a:t>
            </a:r>
            <a:endParaRPr lang="en-US" sz="3600" dirty="0"/>
          </a:p>
        </p:txBody>
      </p:sp>
      <p:sp>
        <p:nvSpPr>
          <p:cNvPr id="4" name="Shape 2"/>
          <p:cNvSpPr/>
          <p:nvPr/>
        </p:nvSpPr>
        <p:spPr>
          <a:xfrm>
            <a:off x="640080" y="1463040"/>
            <a:ext cx="5257800" cy="2697480"/>
          </a:xfrm>
          <a:prstGeom prst="roundRect">
            <a:avLst>
              <a:gd name="adj" fmla="val 2712"/>
            </a:avLst>
          </a:prstGeom>
          <a:solidFill>
            <a:srgbClr val="F2F5F8"/>
          </a:solidFill>
          <a:ln w="12700">
            <a:solidFill>
              <a:srgbClr val="E1E8EF"/>
            </a:solidFill>
            <a:prstDash val="solid"/>
          </a:ln>
          <a:effectLst>
            <a:outerShdw sx="100000" sy="100000" kx="0" ky="0" algn="bl" rotWithShape="0" blurRad="152400" dist="25400" dir="5400000">
              <a:srgbClr val="000000">
                <a:alpha val="8000"/>
              </a:srgbClr>
            </a:outerShdw>
          </a:effectLst>
        </p:spPr>
      </p:sp>
      <p:sp>
        <p:nvSpPr>
          <p:cNvPr id="5" name="Text 3"/>
          <p:cNvSpPr/>
          <p:nvPr/>
        </p:nvSpPr>
        <p:spPr>
          <a:xfrm>
            <a:off x="987552" y="1719072"/>
            <a:ext cx="4562856" cy="256032"/>
          </a:xfrm>
          <a:prstGeom prst="rect">
            <a:avLst/>
          </a:prstGeom>
          <a:noFill/>
          <a:ln/>
        </p:spPr>
        <p:txBody>
          <a:bodyPr wrap="square" lIns="0" tIns="0" rIns="0" bIns="0" rtlCol="0" anchor="ctr"/>
          <a:lstStyle/>
          <a:p>
            <a:pPr indent="0" marL="0">
              <a:buNone/>
            </a:pPr>
            <a:r>
              <a:rPr lang="en-US" sz="1150" b="1" spc="200" kern="0" dirty="0">
                <a:solidFill>
                  <a:srgbClr val="6B7787"/>
                </a:solidFill>
                <a:latin typeface="Calibri" pitchFamily="34" charset="0"/>
                <a:ea typeface="Calibri" pitchFamily="34" charset="-122"/>
                <a:cs typeface="Calibri" pitchFamily="34" charset="-120"/>
              </a:rPr>
              <a:t>WHAT I ASKED</a:t>
            </a:r>
            <a:endParaRPr lang="en-US" sz="1150" dirty="0"/>
          </a:p>
        </p:txBody>
      </p:sp>
      <p:sp>
        <p:nvSpPr>
          <p:cNvPr id="6" name="Text 4"/>
          <p:cNvSpPr/>
          <p:nvPr/>
        </p:nvSpPr>
        <p:spPr>
          <a:xfrm>
            <a:off x="987552" y="2057400"/>
            <a:ext cx="4562856" cy="1051560"/>
          </a:xfrm>
          <a:prstGeom prst="rect">
            <a:avLst/>
          </a:prstGeom>
          <a:noFill/>
          <a:ln/>
        </p:spPr>
        <p:txBody>
          <a:bodyPr wrap="square" lIns="0" tIns="0" rIns="0" bIns="0" rtlCol="0" anchor="t"/>
          <a:lstStyle/>
          <a:p>
            <a:pPr indent="0" marL="0">
              <a:lnSpc>
                <a:spcPts val="2100"/>
              </a:lnSpc>
              <a:buNone/>
            </a:pPr>
            <a:r>
              <a:rPr lang="en-US" sz="1450" dirty="0">
                <a:solidFill>
                  <a:srgbClr val="16212E"/>
                </a:solidFill>
                <a:latin typeface="Calibri" pitchFamily="34" charset="0"/>
                <a:ea typeface="Calibri" pitchFamily="34" charset="-122"/>
                <a:cs typeface="Calibri" pitchFamily="34" charset="-120"/>
              </a:rPr>
              <a:t>Give me a source for every number you just used — the 15–30% reduction, the price range, the trial results. And why didn't you mention Australian regulation once?</a:t>
            </a:r>
            <a:endParaRPr lang="en-US" sz="1450" dirty="0"/>
          </a:p>
        </p:txBody>
      </p:sp>
      <p:sp>
        <p:nvSpPr>
          <p:cNvPr id="7" name="Text 5"/>
          <p:cNvSpPr/>
          <p:nvPr/>
        </p:nvSpPr>
        <p:spPr>
          <a:xfrm>
            <a:off x="987552" y="3200400"/>
            <a:ext cx="4562856" cy="777240"/>
          </a:xfrm>
          <a:prstGeom prst="rect">
            <a:avLst/>
          </a:prstGeom>
          <a:noFill/>
          <a:ln/>
        </p:spPr>
        <p:txBody>
          <a:bodyPr wrap="square" lIns="0" tIns="0" rIns="0" bIns="0" rtlCol="0" anchor="t"/>
          <a:lstStyle/>
          <a:p>
            <a:pPr indent="0" marL="0">
              <a:lnSpc>
                <a:spcPts val="1900"/>
              </a:lnSpc>
              <a:buNone/>
            </a:pPr>
            <a:r>
              <a:rPr lang="en-US" sz="1350" b="1" i="1" dirty="0">
                <a:solidFill>
                  <a:srgbClr val="1D5C9B"/>
                </a:solidFill>
                <a:latin typeface="Calibri" pitchFamily="34" charset="0"/>
                <a:ea typeface="Calibri" pitchFamily="34" charset="-122"/>
                <a:cs typeface="Calibri" pitchFamily="34" charset="-120"/>
              </a:rPr>
              <a:t>“If you can't find a source for something, just say so. Don't give me a source that's close enough.”</a:t>
            </a:r>
            <a:endParaRPr lang="en-US" sz="1350" dirty="0"/>
          </a:p>
        </p:txBody>
      </p:sp>
      <p:sp>
        <p:nvSpPr>
          <p:cNvPr id="8" name="Shape 6"/>
          <p:cNvSpPr/>
          <p:nvPr/>
        </p:nvSpPr>
        <p:spPr>
          <a:xfrm>
            <a:off x="6263640" y="1463040"/>
            <a:ext cx="5257800" cy="2697480"/>
          </a:xfrm>
          <a:prstGeom prst="roundRect">
            <a:avLst>
              <a:gd name="adj" fmla="val 2712"/>
            </a:avLst>
          </a:prstGeom>
          <a:solidFill>
            <a:srgbClr val="DCE6F0"/>
          </a:solidFill>
          <a:ln w="12700">
            <a:solidFill>
              <a:srgbClr val="C3D3E3"/>
            </a:solidFill>
            <a:prstDash val="solid"/>
          </a:ln>
          <a:effectLst>
            <a:outerShdw sx="100000" sy="100000" kx="0" ky="0" algn="bl" rotWithShape="0" blurRad="152400" dist="25400" dir="5400000">
              <a:srgbClr val="000000">
                <a:alpha val="8000"/>
              </a:srgbClr>
            </a:outerShdw>
          </a:effectLst>
        </p:spPr>
      </p:sp>
      <p:sp>
        <p:nvSpPr>
          <p:cNvPr id="9" name="Text 7"/>
          <p:cNvSpPr/>
          <p:nvPr/>
        </p:nvSpPr>
        <p:spPr>
          <a:xfrm>
            <a:off x="6611112" y="1719072"/>
            <a:ext cx="4562856" cy="256032"/>
          </a:xfrm>
          <a:prstGeom prst="rect">
            <a:avLst/>
          </a:prstGeom>
          <a:noFill/>
          <a:ln/>
        </p:spPr>
        <p:txBody>
          <a:bodyPr wrap="square" lIns="0" tIns="0" rIns="0" bIns="0" rtlCol="0" anchor="ctr"/>
          <a:lstStyle/>
          <a:p>
            <a:pPr indent="0" marL="0">
              <a:buNone/>
            </a:pPr>
            <a:r>
              <a:rPr lang="en-US" sz="1150" b="1" spc="200" kern="0" dirty="0">
                <a:solidFill>
                  <a:srgbClr val="3E6488"/>
                </a:solidFill>
                <a:latin typeface="Calibri" pitchFamily="34" charset="0"/>
                <a:ea typeface="Calibri" pitchFamily="34" charset="-122"/>
                <a:cs typeface="Calibri" pitchFamily="34" charset="-120"/>
              </a:rPr>
              <a:t>WHAT CAME BACK</a:t>
            </a:r>
            <a:endParaRPr lang="en-US" sz="1150" dirty="0"/>
          </a:p>
        </p:txBody>
      </p:sp>
      <p:sp>
        <p:nvSpPr>
          <p:cNvPr id="10" name="Text 8"/>
          <p:cNvSpPr/>
          <p:nvPr/>
        </p:nvSpPr>
        <p:spPr>
          <a:xfrm>
            <a:off x="6611112" y="2057400"/>
            <a:ext cx="4562856" cy="1874520"/>
          </a:xfrm>
          <a:prstGeom prst="rect">
            <a:avLst/>
          </a:prstGeom>
          <a:noFill/>
          <a:ln/>
        </p:spPr>
        <p:txBody>
          <a:bodyPr wrap="square" lIns="0" tIns="0" rIns="0" bIns="0" rtlCol="0" anchor="t"/>
          <a:lstStyle/>
          <a:p>
            <a:pPr indent="0" marL="0">
              <a:lnSpc>
                <a:spcPts val="2100"/>
              </a:lnSpc>
              <a:buNone/>
            </a:pPr>
            <a:r>
              <a:rPr lang="en-US" sz="1450" dirty="0">
                <a:solidFill>
                  <a:srgbClr val="16212E"/>
                </a:solidFill>
                <a:latin typeface="Calibri" pitchFamily="34" charset="0"/>
                <a:ea typeface="Calibri" pitchFamily="34" charset="-122"/>
                <a:cs typeface="Calibri" pitchFamily="34" charset="-120"/>
              </a:rPr>
              <a:t>Some claims came back with a study and a year attached. Others came back with an admission that no source existed. It also admitted it had ignored Australian regulation completely.</a:t>
            </a:r>
            <a:endParaRPr lang="en-US" sz="1450" dirty="0"/>
          </a:p>
        </p:txBody>
      </p:sp>
      <p:sp>
        <p:nvSpPr>
          <p:cNvPr id="11" name="Text 9"/>
          <p:cNvSpPr/>
          <p:nvPr/>
        </p:nvSpPr>
        <p:spPr>
          <a:xfrm>
            <a:off x="640080" y="4434840"/>
            <a:ext cx="5486400" cy="274320"/>
          </a:xfrm>
          <a:prstGeom prst="rect">
            <a:avLst/>
          </a:prstGeom>
          <a:noFill/>
          <a:ln/>
        </p:spPr>
        <p:txBody>
          <a:bodyPr wrap="square" lIns="0" tIns="0" rIns="0" bIns="0" rtlCol="0" anchor="ctr"/>
          <a:lstStyle/>
          <a:p>
            <a:pPr indent="0" marL="0">
              <a:buNone/>
            </a:pPr>
            <a:r>
              <a:rPr lang="en-US" sz="1150" b="1" spc="200" kern="0" dirty="0">
                <a:solidFill>
                  <a:srgbClr val="1D5C9B"/>
                </a:solidFill>
                <a:latin typeface="Calibri" pitchFamily="34" charset="0"/>
                <a:ea typeface="Calibri" pitchFamily="34" charset="-122"/>
                <a:cs typeface="Calibri" pitchFamily="34" charset="-120"/>
              </a:rPr>
              <a:t>CRAAP EVALUATION</a:t>
            </a:r>
            <a:endParaRPr lang="en-US" sz="1150" dirty="0"/>
          </a:p>
        </p:txBody>
      </p:sp>
      <p:sp>
        <p:nvSpPr>
          <p:cNvPr id="12" name="Shape 10"/>
          <p:cNvSpPr/>
          <p:nvPr/>
        </p:nvSpPr>
        <p:spPr>
          <a:xfrm>
            <a:off x="640080" y="4800600"/>
            <a:ext cx="3456432" cy="1280160"/>
          </a:xfrm>
          <a:prstGeom prst="roundRect">
            <a:avLst>
              <a:gd name="adj" fmla="val 5000"/>
            </a:avLst>
          </a:prstGeom>
          <a:solidFill>
            <a:srgbClr val="F8FAFC"/>
          </a:solidFill>
          <a:ln w="12700">
            <a:solidFill>
              <a:srgbClr val="DCE4EC"/>
            </a:solidFill>
            <a:prstDash val="solid"/>
          </a:ln>
        </p:spPr>
      </p:sp>
      <p:sp>
        <p:nvSpPr>
          <p:cNvPr id="13" name="Text 11"/>
          <p:cNvSpPr/>
          <p:nvPr/>
        </p:nvSpPr>
        <p:spPr>
          <a:xfrm>
            <a:off x="896112" y="4956048"/>
            <a:ext cx="2944368" cy="292608"/>
          </a:xfrm>
          <a:prstGeom prst="rect">
            <a:avLst/>
          </a:prstGeom>
          <a:noFill/>
          <a:ln/>
        </p:spPr>
        <p:txBody>
          <a:bodyPr wrap="square" lIns="0" tIns="0" rIns="0" bIns="0" rtlCol="0" anchor="ctr"/>
          <a:lstStyle/>
          <a:p>
            <a:pPr indent="0" marL="0">
              <a:buNone/>
            </a:pPr>
            <a:r>
              <a:rPr lang="en-US" sz="1500" b="1" dirty="0">
                <a:solidFill>
                  <a:srgbClr val="1D5C9B"/>
                </a:solidFill>
                <a:latin typeface="Cambria" pitchFamily="34" charset="0"/>
                <a:ea typeface="Cambria" pitchFamily="34" charset="-122"/>
                <a:cs typeface="Cambria" pitchFamily="34" charset="-120"/>
              </a:rPr>
              <a:t>Accuracy</a:t>
            </a:r>
            <a:endParaRPr lang="en-US" sz="1500" dirty="0"/>
          </a:p>
        </p:txBody>
      </p:sp>
      <p:sp>
        <p:nvSpPr>
          <p:cNvPr id="14" name="Text 12"/>
          <p:cNvSpPr/>
          <p:nvPr/>
        </p:nvSpPr>
        <p:spPr>
          <a:xfrm>
            <a:off x="896112" y="5285232"/>
            <a:ext cx="2944368" cy="713232"/>
          </a:xfrm>
          <a:prstGeom prst="rect">
            <a:avLst/>
          </a:prstGeom>
          <a:noFill/>
          <a:ln/>
        </p:spPr>
        <p:txBody>
          <a:bodyPr wrap="square" lIns="0" tIns="0" rIns="0" bIns="0" rtlCol="0" anchor="t"/>
          <a:lstStyle/>
          <a:p>
            <a:pPr indent="0" marL="0">
              <a:lnSpc>
                <a:spcPts val="1700"/>
              </a:lnSpc>
              <a:buNone/>
            </a:pPr>
            <a:r>
              <a:rPr lang="en-US" sz="1250" dirty="0">
                <a:solidFill>
                  <a:srgbClr val="16212E"/>
                </a:solidFill>
                <a:latin typeface="Calibri" pitchFamily="34" charset="0"/>
                <a:ea typeface="Calibri" pitchFamily="34" charset="-122"/>
                <a:cs typeface="Calibri" pitchFamily="34" charset="-120"/>
              </a:rPr>
              <a:t>It only gave sources when I pushed. Some numbers had none at all.</a:t>
            </a:r>
            <a:endParaRPr lang="en-US" sz="1250" dirty="0"/>
          </a:p>
        </p:txBody>
      </p:sp>
      <p:sp>
        <p:nvSpPr>
          <p:cNvPr id="15" name="Shape 13"/>
          <p:cNvSpPr/>
          <p:nvPr/>
        </p:nvSpPr>
        <p:spPr>
          <a:xfrm>
            <a:off x="4352544" y="4800600"/>
            <a:ext cx="3456432" cy="1280160"/>
          </a:xfrm>
          <a:prstGeom prst="roundRect">
            <a:avLst>
              <a:gd name="adj" fmla="val 5000"/>
            </a:avLst>
          </a:prstGeom>
          <a:solidFill>
            <a:srgbClr val="F8FAFC"/>
          </a:solidFill>
          <a:ln w="12700">
            <a:solidFill>
              <a:srgbClr val="DCE4EC"/>
            </a:solidFill>
            <a:prstDash val="solid"/>
          </a:ln>
        </p:spPr>
      </p:sp>
      <p:sp>
        <p:nvSpPr>
          <p:cNvPr id="16" name="Text 14"/>
          <p:cNvSpPr/>
          <p:nvPr/>
        </p:nvSpPr>
        <p:spPr>
          <a:xfrm>
            <a:off x="4608576" y="4956048"/>
            <a:ext cx="2944368" cy="292608"/>
          </a:xfrm>
          <a:prstGeom prst="rect">
            <a:avLst/>
          </a:prstGeom>
          <a:noFill/>
          <a:ln/>
        </p:spPr>
        <p:txBody>
          <a:bodyPr wrap="square" lIns="0" tIns="0" rIns="0" bIns="0" rtlCol="0" anchor="ctr"/>
          <a:lstStyle/>
          <a:p>
            <a:pPr indent="0" marL="0">
              <a:buNone/>
            </a:pPr>
            <a:r>
              <a:rPr lang="en-US" sz="1500" b="1" dirty="0">
                <a:solidFill>
                  <a:srgbClr val="1D5C9B"/>
                </a:solidFill>
                <a:latin typeface="Cambria" pitchFamily="34" charset="0"/>
                <a:ea typeface="Cambria" pitchFamily="34" charset="-122"/>
                <a:cs typeface="Cambria" pitchFamily="34" charset="-120"/>
              </a:rPr>
              <a:t>Authority</a:t>
            </a:r>
            <a:endParaRPr lang="en-US" sz="1500" dirty="0"/>
          </a:p>
        </p:txBody>
      </p:sp>
      <p:sp>
        <p:nvSpPr>
          <p:cNvPr id="17" name="Text 15"/>
          <p:cNvSpPr/>
          <p:nvPr/>
        </p:nvSpPr>
        <p:spPr>
          <a:xfrm>
            <a:off x="4608576" y="5285232"/>
            <a:ext cx="2944368" cy="713232"/>
          </a:xfrm>
          <a:prstGeom prst="rect">
            <a:avLst/>
          </a:prstGeom>
          <a:noFill/>
          <a:ln/>
        </p:spPr>
        <p:txBody>
          <a:bodyPr wrap="square" lIns="0" tIns="0" rIns="0" bIns="0" rtlCol="0" anchor="t"/>
          <a:lstStyle/>
          <a:p>
            <a:pPr indent="0" marL="0">
              <a:lnSpc>
                <a:spcPts val="1700"/>
              </a:lnSpc>
              <a:buNone/>
            </a:pPr>
            <a:r>
              <a:rPr lang="en-US" sz="1250" dirty="0">
                <a:solidFill>
                  <a:srgbClr val="16212E"/>
                </a:solidFill>
                <a:latin typeface="Calibri" pitchFamily="34" charset="0"/>
                <a:ea typeface="Calibri" pitchFamily="34" charset="-122"/>
                <a:cs typeface="Calibri" pitchFamily="34" charset="-120"/>
              </a:rPr>
              <a:t>The sources it gave were mostly vendors and overseas studies. No Australian regulators.</a:t>
            </a:r>
            <a:endParaRPr lang="en-US" sz="1250" dirty="0"/>
          </a:p>
        </p:txBody>
      </p:sp>
      <p:sp>
        <p:nvSpPr>
          <p:cNvPr id="18" name="Shape 16"/>
          <p:cNvSpPr/>
          <p:nvPr/>
        </p:nvSpPr>
        <p:spPr>
          <a:xfrm>
            <a:off x="8065008" y="4800600"/>
            <a:ext cx="3456432" cy="1280160"/>
          </a:xfrm>
          <a:prstGeom prst="roundRect">
            <a:avLst>
              <a:gd name="adj" fmla="val 5000"/>
            </a:avLst>
          </a:prstGeom>
          <a:solidFill>
            <a:srgbClr val="F8FAFC"/>
          </a:solidFill>
          <a:ln w="12700">
            <a:solidFill>
              <a:srgbClr val="DCE4EC"/>
            </a:solidFill>
            <a:prstDash val="solid"/>
          </a:ln>
        </p:spPr>
      </p:sp>
      <p:sp>
        <p:nvSpPr>
          <p:cNvPr id="19" name="Text 17"/>
          <p:cNvSpPr/>
          <p:nvPr/>
        </p:nvSpPr>
        <p:spPr>
          <a:xfrm>
            <a:off x="8321040" y="4956048"/>
            <a:ext cx="2944368" cy="292608"/>
          </a:xfrm>
          <a:prstGeom prst="rect">
            <a:avLst/>
          </a:prstGeom>
          <a:noFill/>
          <a:ln/>
        </p:spPr>
        <p:txBody>
          <a:bodyPr wrap="square" lIns="0" tIns="0" rIns="0" bIns="0" rtlCol="0" anchor="ctr"/>
          <a:lstStyle/>
          <a:p>
            <a:pPr indent="0" marL="0">
              <a:buNone/>
            </a:pPr>
            <a:r>
              <a:rPr lang="en-US" sz="1500" b="1" dirty="0">
                <a:solidFill>
                  <a:srgbClr val="1D5C9B"/>
                </a:solidFill>
                <a:latin typeface="Cambria" pitchFamily="34" charset="0"/>
                <a:ea typeface="Cambria" pitchFamily="34" charset="-122"/>
                <a:cs typeface="Cambria" pitchFamily="34" charset="-120"/>
              </a:rPr>
              <a:t>Currency</a:t>
            </a:r>
            <a:endParaRPr lang="en-US" sz="1500" dirty="0"/>
          </a:p>
        </p:txBody>
      </p:sp>
      <p:sp>
        <p:nvSpPr>
          <p:cNvPr id="20" name="Text 18"/>
          <p:cNvSpPr/>
          <p:nvPr/>
        </p:nvSpPr>
        <p:spPr>
          <a:xfrm>
            <a:off x="8321040" y="5285232"/>
            <a:ext cx="2944368" cy="713232"/>
          </a:xfrm>
          <a:prstGeom prst="rect">
            <a:avLst/>
          </a:prstGeom>
          <a:noFill/>
          <a:ln/>
        </p:spPr>
        <p:txBody>
          <a:bodyPr wrap="square" lIns="0" tIns="0" rIns="0" bIns="0" rtlCol="0" anchor="t"/>
          <a:lstStyle/>
          <a:p>
            <a:pPr indent="0" marL="0">
              <a:lnSpc>
                <a:spcPts val="1700"/>
              </a:lnSpc>
              <a:buNone/>
            </a:pPr>
            <a:r>
              <a:rPr lang="en-US" sz="1250" dirty="0">
                <a:solidFill>
                  <a:srgbClr val="16212E"/>
                </a:solidFill>
                <a:latin typeface="Calibri" pitchFamily="34" charset="0"/>
                <a:ea typeface="Calibri" pitchFamily="34" charset="-122"/>
                <a:cs typeface="Calibri" pitchFamily="34" charset="-120"/>
              </a:rPr>
              <a:t>Years only appeared when I asked for them directly.</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280160" cy="868680"/>
          </a:xfrm>
          <a:prstGeom prst="rect">
            <a:avLst/>
          </a:prstGeom>
          <a:noFill/>
          <a:ln/>
        </p:spPr>
        <p:txBody>
          <a:bodyPr wrap="square" lIns="0" tIns="0" rIns="0" bIns="0" rtlCol="0" anchor="ctr"/>
          <a:lstStyle/>
          <a:p>
            <a:pPr indent="0" marL="0">
              <a:buNone/>
            </a:pPr>
            <a:r>
              <a:rPr lang="en-US" sz="5000" b="1" dirty="0">
                <a:solidFill>
                  <a:srgbClr val="1D5C9B"/>
                </a:solidFill>
                <a:latin typeface="Cambria" pitchFamily="34" charset="0"/>
                <a:ea typeface="Cambria" pitchFamily="34" charset="-122"/>
                <a:cs typeface="Cambria" pitchFamily="34" charset="-120"/>
              </a:rPr>
              <a:t>05</a:t>
            </a:r>
            <a:endParaRPr lang="en-US" sz="5000" dirty="0"/>
          </a:p>
        </p:txBody>
      </p:sp>
      <p:sp>
        <p:nvSpPr>
          <p:cNvPr id="3" name="Text 1"/>
          <p:cNvSpPr/>
          <p:nvPr/>
        </p:nvSpPr>
        <p:spPr>
          <a:xfrm>
            <a:off x="1783080" y="411480"/>
            <a:ext cx="9692640" cy="868680"/>
          </a:xfrm>
          <a:prstGeom prst="rect">
            <a:avLst/>
          </a:prstGeom>
          <a:noFill/>
          <a:ln/>
        </p:spPr>
        <p:txBody>
          <a:bodyPr wrap="square" lIns="0" tIns="0" rIns="0" bIns="0" rtlCol="0" anchor="ctr"/>
          <a:lstStyle/>
          <a:p>
            <a:pPr indent="0" marL="0">
              <a:buNone/>
            </a:pPr>
            <a:r>
              <a:rPr lang="en-US" sz="3600" b="1" dirty="0">
                <a:solidFill>
                  <a:srgbClr val="16212E"/>
                </a:solidFill>
                <a:latin typeface="Cambria" pitchFamily="34" charset="0"/>
                <a:ea typeface="Cambria" pitchFamily="34" charset="-122"/>
                <a:cs typeface="Cambria" pitchFamily="34" charset="-120"/>
              </a:rPr>
              <a:t>Make it useful</a:t>
            </a:r>
            <a:endParaRPr lang="en-US" sz="3600" dirty="0"/>
          </a:p>
        </p:txBody>
      </p:sp>
      <p:sp>
        <p:nvSpPr>
          <p:cNvPr id="4" name="Shape 2"/>
          <p:cNvSpPr/>
          <p:nvPr/>
        </p:nvSpPr>
        <p:spPr>
          <a:xfrm>
            <a:off x="640080" y="1463040"/>
            <a:ext cx="5257800" cy="2697480"/>
          </a:xfrm>
          <a:prstGeom prst="roundRect">
            <a:avLst>
              <a:gd name="adj" fmla="val 2712"/>
            </a:avLst>
          </a:prstGeom>
          <a:solidFill>
            <a:srgbClr val="F2F5F8"/>
          </a:solidFill>
          <a:ln w="12700">
            <a:solidFill>
              <a:srgbClr val="E1E8EF"/>
            </a:solidFill>
            <a:prstDash val="solid"/>
          </a:ln>
          <a:effectLst>
            <a:outerShdw sx="100000" sy="100000" kx="0" ky="0" algn="bl" rotWithShape="0" blurRad="152400" dist="25400" dir="5400000">
              <a:srgbClr val="000000">
                <a:alpha val="8000"/>
              </a:srgbClr>
            </a:outerShdw>
          </a:effectLst>
        </p:spPr>
      </p:sp>
      <p:sp>
        <p:nvSpPr>
          <p:cNvPr id="5" name="Text 3"/>
          <p:cNvSpPr/>
          <p:nvPr/>
        </p:nvSpPr>
        <p:spPr>
          <a:xfrm>
            <a:off x="987552" y="1719072"/>
            <a:ext cx="4562856" cy="256032"/>
          </a:xfrm>
          <a:prstGeom prst="rect">
            <a:avLst/>
          </a:prstGeom>
          <a:noFill/>
          <a:ln/>
        </p:spPr>
        <p:txBody>
          <a:bodyPr wrap="square" lIns="0" tIns="0" rIns="0" bIns="0" rtlCol="0" anchor="ctr"/>
          <a:lstStyle/>
          <a:p>
            <a:pPr indent="0" marL="0">
              <a:buNone/>
            </a:pPr>
            <a:r>
              <a:rPr lang="en-US" sz="1150" b="1" spc="200" kern="0" dirty="0">
                <a:solidFill>
                  <a:srgbClr val="6B7787"/>
                </a:solidFill>
                <a:latin typeface="Calibri" pitchFamily="34" charset="0"/>
                <a:ea typeface="Calibri" pitchFamily="34" charset="-122"/>
                <a:cs typeface="Calibri" pitchFamily="34" charset="-120"/>
              </a:rPr>
              <a:t>WHAT I ASKED</a:t>
            </a:r>
            <a:endParaRPr lang="en-US" sz="1150" dirty="0"/>
          </a:p>
        </p:txBody>
      </p:sp>
      <p:sp>
        <p:nvSpPr>
          <p:cNvPr id="6" name="Text 4"/>
          <p:cNvSpPr/>
          <p:nvPr/>
        </p:nvSpPr>
        <p:spPr>
          <a:xfrm>
            <a:off x="987552" y="2057400"/>
            <a:ext cx="4562856" cy="1051560"/>
          </a:xfrm>
          <a:prstGeom prst="rect">
            <a:avLst/>
          </a:prstGeom>
          <a:noFill/>
          <a:ln/>
        </p:spPr>
        <p:txBody>
          <a:bodyPr wrap="square" lIns="0" tIns="0" rIns="0" bIns="0" rtlCol="0" anchor="t"/>
          <a:lstStyle/>
          <a:p>
            <a:pPr indent="0" marL="0">
              <a:lnSpc>
                <a:spcPts val="2100"/>
              </a:lnSpc>
              <a:buNone/>
            </a:pPr>
            <a:r>
              <a:rPr lang="en-US" sz="1450" dirty="0">
                <a:solidFill>
                  <a:srgbClr val="16212E"/>
                </a:solidFill>
                <a:latin typeface="Calibri" pitchFamily="34" charset="0"/>
                <a:ea typeface="Calibri" pitchFamily="34" charset="-122"/>
                <a:cs typeface="Calibri" pitchFamily="34" charset="-120"/>
              </a:rPr>
              <a:t>Pull it together as a one-page briefing for Followmont's leadership: recommendation, cost, risks, and what they would measure.</a:t>
            </a:r>
            <a:endParaRPr lang="en-US" sz="1450" dirty="0"/>
          </a:p>
        </p:txBody>
      </p:sp>
      <p:sp>
        <p:nvSpPr>
          <p:cNvPr id="7" name="Text 5"/>
          <p:cNvSpPr/>
          <p:nvPr/>
        </p:nvSpPr>
        <p:spPr>
          <a:xfrm>
            <a:off x="987552" y="3200400"/>
            <a:ext cx="4562856" cy="777240"/>
          </a:xfrm>
          <a:prstGeom prst="rect">
            <a:avLst/>
          </a:prstGeom>
          <a:noFill/>
          <a:ln/>
        </p:spPr>
        <p:txBody>
          <a:bodyPr wrap="square" lIns="0" tIns="0" rIns="0" bIns="0" rtlCol="0" anchor="t"/>
          <a:lstStyle/>
          <a:p>
            <a:pPr indent="0" marL="0">
              <a:lnSpc>
                <a:spcPts val="1900"/>
              </a:lnSpc>
              <a:buNone/>
            </a:pPr>
            <a:r>
              <a:rPr lang="en-US" sz="1350" b="1" i="1" dirty="0">
                <a:solidFill>
                  <a:srgbClr val="1D5C9B"/>
                </a:solidFill>
                <a:latin typeface="Calibri" pitchFamily="34" charset="0"/>
                <a:ea typeface="Calibri" pitchFamily="34" charset="-122"/>
                <a:cs typeface="Calibri" pitchFamily="34" charset="-120"/>
              </a:rPr>
              <a:t>“Keep the sourcing honest… don't smooth over the gaps you just told me about.”</a:t>
            </a:r>
            <a:endParaRPr lang="en-US" sz="1350" dirty="0"/>
          </a:p>
        </p:txBody>
      </p:sp>
      <p:sp>
        <p:nvSpPr>
          <p:cNvPr id="8" name="Shape 6"/>
          <p:cNvSpPr/>
          <p:nvPr/>
        </p:nvSpPr>
        <p:spPr>
          <a:xfrm>
            <a:off x="6263640" y="1463040"/>
            <a:ext cx="5257800" cy="2697480"/>
          </a:xfrm>
          <a:prstGeom prst="roundRect">
            <a:avLst>
              <a:gd name="adj" fmla="val 2712"/>
            </a:avLst>
          </a:prstGeom>
          <a:solidFill>
            <a:srgbClr val="DCE6F0"/>
          </a:solidFill>
          <a:ln w="12700">
            <a:solidFill>
              <a:srgbClr val="C3D3E3"/>
            </a:solidFill>
            <a:prstDash val="solid"/>
          </a:ln>
          <a:effectLst>
            <a:outerShdw sx="100000" sy="100000" kx="0" ky="0" algn="bl" rotWithShape="0" blurRad="152400" dist="25400" dir="5400000">
              <a:srgbClr val="000000">
                <a:alpha val="8000"/>
              </a:srgbClr>
            </a:outerShdw>
          </a:effectLst>
        </p:spPr>
      </p:sp>
      <p:sp>
        <p:nvSpPr>
          <p:cNvPr id="9" name="Text 7"/>
          <p:cNvSpPr/>
          <p:nvPr/>
        </p:nvSpPr>
        <p:spPr>
          <a:xfrm>
            <a:off x="6611112" y="1719072"/>
            <a:ext cx="4562856" cy="256032"/>
          </a:xfrm>
          <a:prstGeom prst="rect">
            <a:avLst/>
          </a:prstGeom>
          <a:noFill/>
          <a:ln/>
        </p:spPr>
        <p:txBody>
          <a:bodyPr wrap="square" lIns="0" tIns="0" rIns="0" bIns="0" rtlCol="0" anchor="ctr"/>
          <a:lstStyle/>
          <a:p>
            <a:pPr indent="0" marL="0">
              <a:buNone/>
            </a:pPr>
            <a:r>
              <a:rPr lang="en-US" sz="1150" b="1" spc="200" kern="0" dirty="0">
                <a:solidFill>
                  <a:srgbClr val="3E6488"/>
                </a:solidFill>
                <a:latin typeface="Calibri" pitchFamily="34" charset="0"/>
                <a:ea typeface="Calibri" pitchFamily="34" charset="-122"/>
                <a:cs typeface="Calibri" pitchFamily="34" charset="-120"/>
              </a:rPr>
              <a:t>WHAT CAME BACK</a:t>
            </a:r>
            <a:endParaRPr lang="en-US" sz="1150" dirty="0"/>
          </a:p>
        </p:txBody>
      </p:sp>
      <p:sp>
        <p:nvSpPr>
          <p:cNvPr id="10" name="Text 8"/>
          <p:cNvSpPr/>
          <p:nvPr/>
        </p:nvSpPr>
        <p:spPr>
          <a:xfrm>
            <a:off x="6611112" y="2057400"/>
            <a:ext cx="4562856" cy="1874520"/>
          </a:xfrm>
          <a:prstGeom prst="rect">
            <a:avLst/>
          </a:prstGeom>
          <a:noFill/>
          <a:ln/>
        </p:spPr>
        <p:txBody>
          <a:bodyPr wrap="square" lIns="0" tIns="0" rIns="0" bIns="0" rtlCol="0" anchor="t"/>
          <a:lstStyle/>
          <a:p>
            <a:pPr indent="0" marL="0">
              <a:lnSpc>
                <a:spcPts val="2100"/>
              </a:lnSpc>
              <a:buNone/>
            </a:pPr>
            <a:r>
              <a:rPr lang="en-US" sz="1450" dirty="0">
                <a:solidFill>
                  <a:srgbClr val="16212E"/>
                </a:solidFill>
                <a:latin typeface="Calibri" pitchFamily="34" charset="0"/>
                <a:ea typeface="Calibri" pitchFamily="34" charset="-122"/>
                <a:cs typeface="Calibri" pitchFamily="34" charset="-120"/>
              </a:rPr>
              <a:t>A one-page briefing a manager could act on — recommendation, rough cost, risks and a measurement plan — with the weak evidence still labelled weak, not quietly dropped.</a:t>
            </a:r>
            <a:endParaRPr lang="en-US" sz="1450" dirty="0"/>
          </a:p>
        </p:txBody>
      </p:sp>
      <p:sp>
        <p:nvSpPr>
          <p:cNvPr id="11" name="Text 9"/>
          <p:cNvSpPr/>
          <p:nvPr/>
        </p:nvSpPr>
        <p:spPr>
          <a:xfrm>
            <a:off x="640080" y="4434840"/>
            <a:ext cx="5486400" cy="274320"/>
          </a:xfrm>
          <a:prstGeom prst="rect">
            <a:avLst/>
          </a:prstGeom>
          <a:noFill/>
          <a:ln/>
        </p:spPr>
        <p:txBody>
          <a:bodyPr wrap="square" lIns="0" tIns="0" rIns="0" bIns="0" rtlCol="0" anchor="ctr"/>
          <a:lstStyle/>
          <a:p>
            <a:pPr indent="0" marL="0">
              <a:buNone/>
            </a:pPr>
            <a:r>
              <a:rPr lang="en-US" sz="1150" b="1" spc="200" kern="0" dirty="0">
                <a:solidFill>
                  <a:srgbClr val="1D5C9B"/>
                </a:solidFill>
                <a:latin typeface="Calibri" pitchFamily="34" charset="0"/>
                <a:ea typeface="Calibri" pitchFamily="34" charset="-122"/>
                <a:cs typeface="Calibri" pitchFamily="34" charset="-120"/>
              </a:rPr>
              <a:t>CRAAP EVALUATION</a:t>
            </a:r>
            <a:endParaRPr lang="en-US" sz="1150" dirty="0"/>
          </a:p>
        </p:txBody>
      </p:sp>
      <p:sp>
        <p:nvSpPr>
          <p:cNvPr id="12" name="Shape 10"/>
          <p:cNvSpPr/>
          <p:nvPr/>
        </p:nvSpPr>
        <p:spPr>
          <a:xfrm>
            <a:off x="640080" y="4800600"/>
            <a:ext cx="3456432" cy="1280160"/>
          </a:xfrm>
          <a:prstGeom prst="roundRect">
            <a:avLst>
              <a:gd name="adj" fmla="val 5000"/>
            </a:avLst>
          </a:prstGeom>
          <a:solidFill>
            <a:srgbClr val="F8FAFC"/>
          </a:solidFill>
          <a:ln w="12700">
            <a:solidFill>
              <a:srgbClr val="DCE4EC"/>
            </a:solidFill>
            <a:prstDash val="solid"/>
          </a:ln>
        </p:spPr>
      </p:sp>
      <p:sp>
        <p:nvSpPr>
          <p:cNvPr id="13" name="Text 11"/>
          <p:cNvSpPr/>
          <p:nvPr/>
        </p:nvSpPr>
        <p:spPr>
          <a:xfrm>
            <a:off x="896112" y="4956048"/>
            <a:ext cx="2944368" cy="292608"/>
          </a:xfrm>
          <a:prstGeom prst="rect">
            <a:avLst/>
          </a:prstGeom>
          <a:noFill/>
          <a:ln/>
        </p:spPr>
        <p:txBody>
          <a:bodyPr wrap="square" lIns="0" tIns="0" rIns="0" bIns="0" rtlCol="0" anchor="ctr"/>
          <a:lstStyle/>
          <a:p>
            <a:pPr indent="0" marL="0">
              <a:buNone/>
            </a:pPr>
            <a:r>
              <a:rPr lang="en-US" sz="1500" b="1" dirty="0">
                <a:solidFill>
                  <a:srgbClr val="1D5C9B"/>
                </a:solidFill>
                <a:latin typeface="Cambria" pitchFamily="34" charset="0"/>
                <a:ea typeface="Cambria" pitchFamily="34" charset="-122"/>
                <a:cs typeface="Cambria" pitchFamily="34" charset="-120"/>
              </a:rPr>
              <a:t>Purpose</a:t>
            </a:r>
            <a:endParaRPr lang="en-US" sz="1500" dirty="0"/>
          </a:p>
        </p:txBody>
      </p:sp>
      <p:sp>
        <p:nvSpPr>
          <p:cNvPr id="14" name="Text 12"/>
          <p:cNvSpPr/>
          <p:nvPr/>
        </p:nvSpPr>
        <p:spPr>
          <a:xfrm>
            <a:off x="896112" y="5285232"/>
            <a:ext cx="2944368" cy="713232"/>
          </a:xfrm>
          <a:prstGeom prst="rect">
            <a:avLst/>
          </a:prstGeom>
          <a:noFill/>
          <a:ln/>
        </p:spPr>
        <p:txBody>
          <a:bodyPr wrap="square" lIns="0" tIns="0" rIns="0" bIns="0" rtlCol="0" anchor="t"/>
          <a:lstStyle/>
          <a:p>
            <a:pPr indent="0" marL="0">
              <a:lnSpc>
                <a:spcPts val="1700"/>
              </a:lnSpc>
              <a:buNone/>
            </a:pPr>
            <a:r>
              <a:rPr lang="en-US" sz="1250" dirty="0">
                <a:solidFill>
                  <a:srgbClr val="16212E"/>
                </a:solidFill>
                <a:latin typeface="Calibri" pitchFamily="34" charset="0"/>
                <a:ea typeface="Calibri" pitchFamily="34" charset="-122"/>
                <a:cs typeface="Calibri" pitchFamily="34" charset="-120"/>
              </a:rPr>
              <a:t>Written to sell a trial to a board. It sounds more certain than the evidence allows.</a:t>
            </a:r>
            <a:endParaRPr lang="en-US" sz="1250" dirty="0"/>
          </a:p>
        </p:txBody>
      </p:sp>
      <p:sp>
        <p:nvSpPr>
          <p:cNvPr id="15" name="Shape 13"/>
          <p:cNvSpPr/>
          <p:nvPr/>
        </p:nvSpPr>
        <p:spPr>
          <a:xfrm>
            <a:off x="4352544" y="4800600"/>
            <a:ext cx="3456432" cy="1280160"/>
          </a:xfrm>
          <a:prstGeom prst="roundRect">
            <a:avLst>
              <a:gd name="adj" fmla="val 5000"/>
            </a:avLst>
          </a:prstGeom>
          <a:solidFill>
            <a:srgbClr val="F8FAFC"/>
          </a:solidFill>
          <a:ln w="12700">
            <a:solidFill>
              <a:srgbClr val="DCE4EC"/>
            </a:solidFill>
            <a:prstDash val="solid"/>
          </a:ln>
        </p:spPr>
      </p:sp>
      <p:sp>
        <p:nvSpPr>
          <p:cNvPr id="16" name="Text 14"/>
          <p:cNvSpPr/>
          <p:nvPr/>
        </p:nvSpPr>
        <p:spPr>
          <a:xfrm>
            <a:off x="4608576" y="4956048"/>
            <a:ext cx="2944368" cy="292608"/>
          </a:xfrm>
          <a:prstGeom prst="rect">
            <a:avLst/>
          </a:prstGeom>
          <a:noFill/>
          <a:ln/>
        </p:spPr>
        <p:txBody>
          <a:bodyPr wrap="square" lIns="0" tIns="0" rIns="0" bIns="0" rtlCol="0" anchor="ctr"/>
          <a:lstStyle/>
          <a:p>
            <a:pPr indent="0" marL="0">
              <a:buNone/>
            </a:pPr>
            <a:r>
              <a:rPr lang="en-US" sz="1500" b="1" dirty="0">
                <a:solidFill>
                  <a:srgbClr val="1D5C9B"/>
                </a:solidFill>
                <a:latin typeface="Cambria" pitchFamily="34" charset="0"/>
                <a:ea typeface="Cambria" pitchFamily="34" charset="-122"/>
                <a:cs typeface="Cambria" pitchFamily="34" charset="-120"/>
              </a:rPr>
              <a:t>Relevance</a:t>
            </a:r>
            <a:endParaRPr lang="en-US" sz="1500" dirty="0"/>
          </a:p>
        </p:txBody>
      </p:sp>
      <p:sp>
        <p:nvSpPr>
          <p:cNvPr id="17" name="Text 15"/>
          <p:cNvSpPr/>
          <p:nvPr/>
        </p:nvSpPr>
        <p:spPr>
          <a:xfrm>
            <a:off x="4608576" y="5285232"/>
            <a:ext cx="2944368" cy="713232"/>
          </a:xfrm>
          <a:prstGeom prst="rect">
            <a:avLst/>
          </a:prstGeom>
          <a:noFill/>
          <a:ln/>
        </p:spPr>
        <p:txBody>
          <a:bodyPr wrap="square" lIns="0" tIns="0" rIns="0" bIns="0" rtlCol="0" anchor="t"/>
          <a:lstStyle/>
          <a:p>
            <a:pPr indent="0" marL="0">
              <a:lnSpc>
                <a:spcPts val="1700"/>
              </a:lnSpc>
              <a:buNone/>
            </a:pPr>
            <a:r>
              <a:rPr lang="en-US" sz="1250" dirty="0">
                <a:solidFill>
                  <a:srgbClr val="16212E"/>
                </a:solidFill>
                <a:latin typeface="Calibri" pitchFamily="34" charset="0"/>
                <a:ea typeface="Calibri" pitchFamily="34" charset="-122"/>
                <a:cs typeface="Calibri" pitchFamily="34" charset="-120"/>
              </a:rPr>
              <a:t>It fits the decision Followmont actually faces, at a length they'd actually read.</a:t>
            </a:r>
            <a:endParaRPr lang="en-US" sz="1250" dirty="0"/>
          </a:p>
        </p:txBody>
      </p:sp>
      <p:sp>
        <p:nvSpPr>
          <p:cNvPr id="18" name="Shape 16"/>
          <p:cNvSpPr/>
          <p:nvPr/>
        </p:nvSpPr>
        <p:spPr>
          <a:xfrm>
            <a:off x="8065008" y="4800600"/>
            <a:ext cx="3456432" cy="1280160"/>
          </a:xfrm>
          <a:prstGeom prst="roundRect">
            <a:avLst>
              <a:gd name="adj" fmla="val 5000"/>
            </a:avLst>
          </a:prstGeom>
          <a:solidFill>
            <a:srgbClr val="F8FAFC"/>
          </a:solidFill>
          <a:ln w="12700">
            <a:solidFill>
              <a:srgbClr val="DCE4EC"/>
            </a:solidFill>
            <a:prstDash val="solid"/>
          </a:ln>
        </p:spPr>
      </p:sp>
      <p:sp>
        <p:nvSpPr>
          <p:cNvPr id="19" name="Text 17"/>
          <p:cNvSpPr/>
          <p:nvPr/>
        </p:nvSpPr>
        <p:spPr>
          <a:xfrm>
            <a:off x="8321040" y="4956048"/>
            <a:ext cx="2944368" cy="292608"/>
          </a:xfrm>
          <a:prstGeom prst="rect">
            <a:avLst/>
          </a:prstGeom>
          <a:noFill/>
          <a:ln/>
        </p:spPr>
        <p:txBody>
          <a:bodyPr wrap="square" lIns="0" tIns="0" rIns="0" bIns="0" rtlCol="0" anchor="ctr"/>
          <a:lstStyle/>
          <a:p>
            <a:pPr indent="0" marL="0">
              <a:buNone/>
            </a:pPr>
            <a:r>
              <a:rPr lang="en-US" sz="1500" b="1" dirty="0">
                <a:solidFill>
                  <a:srgbClr val="1D5C9B"/>
                </a:solidFill>
                <a:latin typeface="Cambria" pitchFamily="34" charset="0"/>
                <a:ea typeface="Cambria" pitchFamily="34" charset="-122"/>
                <a:cs typeface="Cambria" pitchFamily="34" charset="-120"/>
              </a:rPr>
              <a:t>Accuracy</a:t>
            </a:r>
            <a:endParaRPr lang="en-US" sz="1500" dirty="0"/>
          </a:p>
        </p:txBody>
      </p:sp>
      <p:sp>
        <p:nvSpPr>
          <p:cNvPr id="20" name="Text 18"/>
          <p:cNvSpPr/>
          <p:nvPr/>
        </p:nvSpPr>
        <p:spPr>
          <a:xfrm>
            <a:off x="8321040" y="5285232"/>
            <a:ext cx="2944368" cy="713232"/>
          </a:xfrm>
          <a:prstGeom prst="rect">
            <a:avLst/>
          </a:prstGeom>
          <a:noFill/>
          <a:ln/>
        </p:spPr>
        <p:txBody>
          <a:bodyPr wrap="square" lIns="0" tIns="0" rIns="0" bIns="0" rtlCol="0" anchor="t"/>
          <a:lstStyle/>
          <a:p>
            <a:pPr indent="0" marL="0">
              <a:lnSpc>
                <a:spcPts val="1700"/>
              </a:lnSpc>
              <a:buNone/>
            </a:pPr>
            <a:r>
              <a:rPr lang="en-US" sz="1250" dirty="0">
                <a:solidFill>
                  <a:srgbClr val="16212E"/>
                </a:solidFill>
                <a:latin typeface="Calibri" pitchFamily="34" charset="0"/>
                <a:ea typeface="Calibri" pitchFamily="34" charset="-122"/>
                <a:cs typeface="Calibri" pitchFamily="34" charset="-120"/>
              </a:rPr>
              <a:t>The gaps stayed in — but only because I told it to.</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8229600" cy="685800"/>
          </a:xfrm>
          <a:prstGeom prst="rect">
            <a:avLst/>
          </a:prstGeom>
          <a:noFill/>
          <a:ln/>
        </p:spPr>
        <p:txBody>
          <a:bodyPr wrap="square" lIns="0" tIns="0" rIns="0" bIns="0" rtlCol="0" anchor="ctr"/>
          <a:lstStyle/>
          <a:p>
            <a:pPr indent="0" marL="0">
              <a:buNone/>
            </a:pPr>
            <a:r>
              <a:rPr lang="en-US" sz="4000" b="1" dirty="0">
                <a:solidFill>
                  <a:srgbClr val="16212E"/>
                </a:solidFill>
                <a:latin typeface="Cambria" pitchFamily="34" charset="0"/>
                <a:ea typeface="Cambria" pitchFamily="34" charset="-122"/>
                <a:cs typeface="Cambria" pitchFamily="34" charset="-120"/>
              </a:rPr>
              <a:t>Checking it myself</a:t>
            </a:r>
            <a:endParaRPr lang="en-US" sz="4000" dirty="0"/>
          </a:p>
        </p:txBody>
      </p:sp>
      <p:sp>
        <p:nvSpPr>
          <p:cNvPr id="3" name="Text 1"/>
          <p:cNvSpPr/>
          <p:nvPr/>
        </p:nvSpPr>
        <p:spPr>
          <a:xfrm>
            <a:off x="640080" y="1444752"/>
            <a:ext cx="10881360" cy="457200"/>
          </a:xfrm>
          <a:prstGeom prst="rect">
            <a:avLst/>
          </a:prstGeom>
          <a:noFill/>
          <a:ln/>
        </p:spPr>
        <p:txBody>
          <a:bodyPr wrap="square" lIns="0" tIns="0" rIns="0" bIns="0" rtlCol="0" anchor="ctr"/>
          <a:lstStyle/>
          <a:p>
            <a:pPr indent="0" marL="0">
              <a:buNone/>
            </a:pPr>
            <a:r>
              <a:rPr lang="en-US" sz="1600" dirty="0">
                <a:solidFill>
                  <a:srgbClr val="6B7787"/>
                </a:solidFill>
                <a:latin typeface="Calibri" pitchFamily="34" charset="0"/>
                <a:ea typeface="Calibri" pitchFamily="34" charset="-122"/>
                <a:cs typeface="Calibri" pitchFamily="34" charset="-120"/>
              </a:rPr>
              <a:t>The AI admitting a gap is its work, not mine — so I checked four claims myself.</a:t>
            </a:r>
            <a:endParaRPr lang="en-US" sz="1600" dirty="0"/>
          </a:p>
        </p:txBody>
      </p:sp>
      <p:sp>
        <p:nvSpPr>
          <p:cNvPr id="4" name="Text 2"/>
          <p:cNvSpPr/>
          <p:nvPr/>
        </p:nvSpPr>
        <p:spPr>
          <a:xfrm>
            <a:off x="640080" y="2029968"/>
            <a:ext cx="3246120" cy="274320"/>
          </a:xfrm>
          <a:prstGeom prst="rect">
            <a:avLst/>
          </a:prstGeom>
          <a:noFill/>
          <a:ln/>
        </p:spPr>
        <p:txBody>
          <a:bodyPr wrap="square" lIns="0" tIns="0" rIns="0" bIns="0" rtlCol="0" anchor="ctr"/>
          <a:lstStyle/>
          <a:p>
            <a:pPr indent="0" marL="0">
              <a:buNone/>
            </a:pPr>
            <a:r>
              <a:rPr lang="en-US" sz="1150" b="1" spc="200" kern="0" dirty="0">
                <a:solidFill>
                  <a:srgbClr val="6B7787"/>
                </a:solidFill>
                <a:latin typeface="Calibri" pitchFamily="34" charset="0"/>
                <a:ea typeface="Calibri" pitchFamily="34" charset="-122"/>
                <a:cs typeface="Calibri" pitchFamily="34" charset="-120"/>
              </a:rPr>
              <a:t>THE CLAIM</a:t>
            </a:r>
            <a:endParaRPr lang="en-US" sz="1150" dirty="0"/>
          </a:p>
        </p:txBody>
      </p:sp>
      <p:sp>
        <p:nvSpPr>
          <p:cNvPr id="5" name="Text 3"/>
          <p:cNvSpPr/>
          <p:nvPr/>
        </p:nvSpPr>
        <p:spPr>
          <a:xfrm>
            <a:off x="4069080" y="2029968"/>
            <a:ext cx="3063240" cy="274320"/>
          </a:xfrm>
          <a:prstGeom prst="rect">
            <a:avLst/>
          </a:prstGeom>
          <a:noFill/>
          <a:ln/>
        </p:spPr>
        <p:txBody>
          <a:bodyPr wrap="square" lIns="0" tIns="0" rIns="0" bIns="0" rtlCol="0" anchor="ctr"/>
          <a:lstStyle/>
          <a:p>
            <a:pPr indent="0" marL="0">
              <a:buNone/>
            </a:pPr>
            <a:r>
              <a:rPr lang="en-US" sz="1150" b="1" spc="200" kern="0" dirty="0">
                <a:solidFill>
                  <a:srgbClr val="6B7787"/>
                </a:solidFill>
                <a:latin typeface="Calibri" pitchFamily="34" charset="0"/>
                <a:ea typeface="Calibri" pitchFamily="34" charset="-122"/>
                <a:cs typeface="Calibri" pitchFamily="34" charset="-120"/>
              </a:rPr>
              <a:t>CHECKED AGAINST</a:t>
            </a:r>
            <a:endParaRPr lang="en-US" sz="1150" dirty="0"/>
          </a:p>
        </p:txBody>
      </p:sp>
      <p:sp>
        <p:nvSpPr>
          <p:cNvPr id="6" name="Text 4"/>
          <p:cNvSpPr/>
          <p:nvPr/>
        </p:nvSpPr>
        <p:spPr>
          <a:xfrm>
            <a:off x="7315200" y="2029968"/>
            <a:ext cx="4206240" cy="274320"/>
          </a:xfrm>
          <a:prstGeom prst="rect">
            <a:avLst/>
          </a:prstGeom>
          <a:noFill/>
          <a:ln/>
        </p:spPr>
        <p:txBody>
          <a:bodyPr wrap="square" lIns="0" tIns="0" rIns="0" bIns="0" rtlCol="0" anchor="ctr"/>
          <a:lstStyle/>
          <a:p>
            <a:pPr indent="0" marL="0">
              <a:buNone/>
            </a:pPr>
            <a:r>
              <a:rPr lang="en-US" sz="1150" b="1" spc="200" kern="0" dirty="0">
                <a:solidFill>
                  <a:srgbClr val="6B7787"/>
                </a:solidFill>
                <a:latin typeface="Calibri" pitchFamily="34" charset="0"/>
                <a:ea typeface="Calibri" pitchFamily="34" charset="-122"/>
                <a:cs typeface="Calibri" pitchFamily="34" charset="-120"/>
              </a:rPr>
              <a:t>WHAT I FOUND</a:t>
            </a:r>
            <a:endParaRPr lang="en-US" sz="1150" dirty="0"/>
          </a:p>
        </p:txBody>
      </p:sp>
      <p:sp>
        <p:nvSpPr>
          <p:cNvPr id="7" name="Shape 5"/>
          <p:cNvSpPr/>
          <p:nvPr/>
        </p:nvSpPr>
        <p:spPr>
          <a:xfrm>
            <a:off x="502920" y="2395728"/>
            <a:ext cx="11155680" cy="786384"/>
          </a:xfrm>
          <a:prstGeom prst="roundRect">
            <a:avLst>
              <a:gd name="adj" fmla="val 6977"/>
            </a:avLst>
          </a:prstGeom>
          <a:solidFill>
            <a:srgbClr val="F2F5F8"/>
          </a:solidFill>
          <a:ln w="12700">
            <a:solidFill>
              <a:srgbClr val="E7EDF3"/>
            </a:solidFill>
            <a:prstDash val="solid"/>
          </a:ln>
        </p:spPr>
      </p:sp>
      <p:sp>
        <p:nvSpPr>
          <p:cNvPr id="8" name="Text 6"/>
          <p:cNvSpPr/>
          <p:nvPr/>
        </p:nvSpPr>
        <p:spPr>
          <a:xfrm>
            <a:off x="640080" y="2450592"/>
            <a:ext cx="3246120" cy="676656"/>
          </a:xfrm>
          <a:prstGeom prst="rect">
            <a:avLst/>
          </a:prstGeom>
          <a:noFill/>
          <a:ln/>
        </p:spPr>
        <p:txBody>
          <a:bodyPr wrap="square" lIns="0" tIns="0" rIns="0" bIns="0" rtlCol="0" anchor="ctr"/>
          <a:lstStyle/>
          <a:p>
            <a:pPr indent="0" marL="0">
              <a:lnSpc>
                <a:spcPts val="1700"/>
              </a:lnSpc>
              <a:buNone/>
            </a:pPr>
            <a:r>
              <a:rPr lang="en-US" sz="1300" b="1" dirty="0">
                <a:solidFill>
                  <a:srgbClr val="16212E"/>
                </a:solidFill>
                <a:latin typeface="Calibri" pitchFamily="34" charset="0"/>
                <a:ea typeface="Calibri" pitchFamily="34" charset="-122"/>
                <a:cs typeface="Calibri" pitchFamily="34" charset="-120"/>
              </a:rPr>
              <a:t>Manual handling is the dominant injury burden across Australian workplaces</a:t>
            </a:r>
            <a:endParaRPr lang="en-US" sz="1300" dirty="0"/>
          </a:p>
        </p:txBody>
      </p:sp>
      <p:sp>
        <p:nvSpPr>
          <p:cNvPr id="9" name="Text 7"/>
          <p:cNvSpPr/>
          <p:nvPr/>
        </p:nvSpPr>
        <p:spPr>
          <a:xfrm>
            <a:off x="4069080" y="2450592"/>
            <a:ext cx="3063240" cy="676656"/>
          </a:xfrm>
          <a:prstGeom prst="rect">
            <a:avLst/>
          </a:prstGeom>
          <a:noFill/>
          <a:ln/>
        </p:spPr>
        <p:txBody>
          <a:bodyPr wrap="square" lIns="0" tIns="0" rIns="0" bIns="0" rtlCol="0" anchor="ctr"/>
          <a:lstStyle/>
          <a:p>
            <a:pPr indent="0" marL="0">
              <a:lnSpc>
                <a:spcPts val="1600"/>
              </a:lnSpc>
              <a:buNone/>
            </a:pPr>
            <a:r>
              <a:rPr lang="en-US" sz="1200" dirty="0">
                <a:solidFill>
                  <a:srgbClr val="6B7787"/>
                </a:solidFill>
                <a:latin typeface="Calibri" pitchFamily="34" charset="0"/>
                <a:ea typeface="Calibri" pitchFamily="34" charset="-122"/>
                <a:cs typeface="Calibri" pitchFamily="34" charset="-120"/>
              </a:rPr>
              <a:t>Safe Work Australia, Key WHS Statistics (2025 release)</a:t>
            </a:r>
            <a:endParaRPr lang="en-US" sz="1200" dirty="0"/>
          </a:p>
        </p:txBody>
      </p:sp>
      <p:sp>
        <p:nvSpPr>
          <p:cNvPr id="10" name="Text 8"/>
          <p:cNvSpPr/>
          <p:nvPr/>
        </p:nvSpPr>
        <p:spPr>
          <a:xfrm>
            <a:off x="7315200" y="2450592"/>
            <a:ext cx="4206240" cy="676656"/>
          </a:xfrm>
          <a:prstGeom prst="rect">
            <a:avLst/>
          </a:prstGeom>
          <a:noFill/>
          <a:ln/>
        </p:spPr>
        <p:txBody>
          <a:bodyPr wrap="square" lIns="0" tIns="0" rIns="0" bIns="0" rtlCol="0" anchor="ctr"/>
          <a:lstStyle/>
          <a:p>
            <a:pPr indent="0" marL="0">
              <a:lnSpc>
                <a:spcPts val="1600"/>
              </a:lnSpc>
              <a:buNone/>
            </a:pPr>
            <a:r>
              <a:rPr lang="en-US" sz="1200" b="1" dirty="0">
                <a:solidFill>
                  <a:srgbClr val="4A6B4A"/>
                </a:solidFill>
                <a:latin typeface="Calibri" pitchFamily="34" charset="0"/>
                <a:ea typeface="Calibri" pitchFamily="34" charset="-122"/>
                <a:cs typeface="Calibri" pitchFamily="34" charset="-120"/>
              </a:rPr>
              <a:t>Supported — body stressing was 34.5% of serious claims in 2023–24</a:t>
            </a:r>
            <a:endParaRPr lang="en-US" sz="1200" dirty="0"/>
          </a:p>
        </p:txBody>
      </p:sp>
      <p:sp>
        <p:nvSpPr>
          <p:cNvPr id="11" name="Shape 9"/>
          <p:cNvSpPr/>
          <p:nvPr/>
        </p:nvSpPr>
        <p:spPr>
          <a:xfrm>
            <a:off x="502920" y="3300984"/>
            <a:ext cx="11155680" cy="786384"/>
          </a:xfrm>
          <a:prstGeom prst="roundRect">
            <a:avLst>
              <a:gd name="adj" fmla="val 6977"/>
            </a:avLst>
          </a:prstGeom>
          <a:solidFill>
            <a:srgbClr val="FAFCFE"/>
          </a:solidFill>
          <a:ln w="12700">
            <a:solidFill>
              <a:srgbClr val="E7EDF3"/>
            </a:solidFill>
            <a:prstDash val="solid"/>
          </a:ln>
        </p:spPr>
      </p:sp>
      <p:sp>
        <p:nvSpPr>
          <p:cNvPr id="12" name="Text 10"/>
          <p:cNvSpPr/>
          <p:nvPr/>
        </p:nvSpPr>
        <p:spPr>
          <a:xfrm>
            <a:off x="640080" y="3355848"/>
            <a:ext cx="3246120" cy="676656"/>
          </a:xfrm>
          <a:prstGeom prst="rect">
            <a:avLst/>
          </a:prstGeom>
          <a:noFill/>
          <a:ln/>
        </p:spPr>
        <p:txBody>
          <a:bodyPr wrap="square" lIns="0" tIns="0" rIns="0" bIns="0" rtlCol="0" anchor="ctr"/>
          <a:lstStyle/>
          <a:p>
            <a:pPr indent="0" marL="0">
              <a:lnSpc>
                <a:spcPts val="1700"/>
              </a:lnSpc>
              <a:buNone/>
            </a:pPr>
            <a:r>
              <a:rPr lang="en-US" sz="1300" b="1" dirty="0">
                <a:solidFill>
                  <a:srgbClr val="16212E"/>
                </a:solidFill>
                <a:latin typeface="Calibri" pitchFamily="34" charset="0"/>
                <a:ea typeface="Calibri" pitchFamily="34" charset="-122"/>
                <a:cs typeface="Calibri" pitchFamily="34" charset="-120"/>
              </a:rPr>
              <a:t>Exoskeletons cut muscle activity by 15–30%</a:t>
            </a:r>
            <a:endParaRPr lang="en-US" sz="1300" dirty="0"/>
          </a:p>
        </p:txBody>
      </p:sp>
      <p:sp>
        <p:nvSpPr>
          <p:cNvPr id="13" name="Text 11"/>
          <p:cNvSpPr/>
          <p:nvPr/>
        </p:nvSpPr>
        <p:spPr>
          <a:xfrm>
            <a:off x="4069080" y="3355848"/>
            <a:ext cx="3063240" cy="676656"/>
          </a:xfrm>
          <a:prstGeom prst="rect">
            <a:avLst/>
          </a:prstGeom>
          <a:noFill/>
          <a:ln/>
        </p:spPr>
        <p:txBody>
          <a:bodyPr wrap="square" lIns="0" tIns="0" rIns="0" bIns="0" rtlCol="0" anchor="ctr"/>
          <a:lstStyle/>
          <a:p>
            <a:pPr indent="0" marL="0">
              <a:lnSpc>
                <a:spcPts val="1600"/>
              </a:lnSpc>
              <a:buNone/>
            </a:pPr>
            <a:r>
              <a:rPr lang="en-US" sz="1200" dirty="0">
                <a:solidFill>
                  <a:srgbClr val="6B7787"/>
                </a:solidFill>
                <a:latin typeface="Calibri" pitchFamily="34" charset="0"/>
                <a:ea typeface="Calibri" pitchFamily="34" charset="-122"/>
                <a:cs typeface="Calibri" pitchFamily="34" charset="-120"/>
              </a:rPr>
              <a:t>Schwartz et al. (2023), Int. J. Environ. Res. Public Health</a:t>
            </a:r>
            <a:endParaRPr lang="en-US" sz="1200" dirty="0"/>
          </a:p>
        </p:txBody>
      </p:sp>
      <p:sp>
        <p:nvSpPr>
          <p:cNvPr id="14" name="Text 12"/>
          <p:cNvSpPr/>
          <p:nvPr/>
        </p:nvSpPr>
        <p:spPr>
          <a:xfrm>
            <a:off x="7315200" y="3355848"/>
            <a:ext cx="4206240" cy="676656"/>
          </a:xfrm>
          <a:prstGeom prst="rect">
            <a:avLst/>
          </a:prstGeom>
          <a:noFill/>
          <a:ln/>
        </p:spPr>
        <p:txBody>
          <a:bodyPr wrap="square" lIns="0" tIns="0" rIns="0" bIns="0" rtlCol="0" anchor="ctr"/>
          <a:lstStyle/>
          <a:p>
            <a:pPr indent="0" marL="0">
              <a:lnSpc>
                <a:spcPts val="1600"/>
              </a:lnSpc>
              <a:buNone/>
            </a:pPr>
            <a:r>
              <a:rPr lang="en-US" sz="1200" b="1" dirty="0">
                <a:solidFill>
                  <a:srgbClr val="7A6A2B"/>
                </a:solidFill>
                <a:latin typeface="Calibri" pitchFamily="34" charset="0"/>
                <a:ea typeface="Calibri" pitchFamily="34" charset="-122"/>
                <a:cs typeface="Calibri" pitchFamily="34" charset="-120"/>
              </a:rPr>
              <a:t>Overstated — passive devices cut muscle activity 12–27%, not 15–30%. French lab, not a depot, and results varied a lot between individuals</a:t>
            </a:r>
            <a:endParaRPr lang="en-US" sz="1200" dirty="0"/>
          </a:p>
        </p:txBody>
      </p:sp>
      <p:sp>
        <p:nvSpPr>
          <p:cNvPr id="15" name="Shape 13"/>
          <p:cNvSpPr/>
          <p:nvPr/>
        </p:nvSpPr>
        <p:spPr>
          <a:xfrm>
            <a:off x="502920" y="4206240"/>
            <a:ext cx="11155680" cy="786384"/>
          </a:xfrm>
          <a:prstGeom prst="roundRect">
            <a:avLst>
              <a:gd name="adj" fmla="val 6977"/>
            </a:avLst>
          </a:prstGeom>
          <a:solidFill>
            <a:srgbClr val="F2F5F8"/>
          </a:solidFill>
          <a:ln w="12700">
            <a:solidFill>
              <a:srgbClr val="E7EDF3"/>
            </a:solidFill>
            <a:prstDash val="solid"/>
          </a:ln>
        </p:spPr>
      </p:sp>
      <p:sp>
        <p:nvSpPr>
          <p:cNvPr id="16" name="Text 14"/>
          <p:cNvSpPr/>
          <p:nvPr/>
        </p:nvSpPr>
        <p:spPr>
          <a:xfrm>
            <a:off x="640080" y="4261104"/>
            <a:ext cx="3246120" cy="676656"/>
          </a:xfrm>
          <a:prstGeom prst="rect">
            <a:avLst/>
          </a:prstGeom>
          <a:noFill/>
          <a:ln/>
        </p:spPr>
        <p:txBody>
          <a:bodyPr wrap="square" lIns="0" tIns="0" rIns="0" bIns="0" rtlCol="0" anchor="ctr"/>
          <a:lstStyle/>
          <a:p>
            <a:pPr indent="0" marL="0">
              <a:lnSpc>
                <a:spcPts val="1700"/>
              </a:lnSpc>
              <a:buNone/>
            </a:pPr>
            <a:r>
              <a:rPr lang="en-US" sz="1300" b="1" dirty="0">
                <a:solidFill>
                  <a:srgbClr val="16212E"/>
                </a:solidFill>
                <a:latin typeface="Calibri" pitchFamily="34" charset="0"/>
                <a:ea typeface="Calibri" pitchFamily="34" charset="-122"/>
                <a:cs typeface="Calibri" pitchFamily="34" charset="-120"/>
              </a:rPr>
              <a:t>Units cost A$1,500–5,000</a:t>
            </a:r>
            <a:endParaRPr lang="en-US" sz="1300" dirty="0"/>
          </a:p>
        </p:txBody>
      </p:sp>
      <p:sp>
        <p:nvSpPr>
          <p:cNvPr id="17" name="Text 15"/>
          <p:cNvSpPr/>
          <p:nvPr/>
        </p:nvSpPr>
        <p:spPr>
          <a:xfrm>
            <a:off x="4069080" y="4261104"/>
            <a:ext cx="3063240" cy="676656"/>
          </a:xfrm>
          <a:prstGeom prst="rect">
            <a:avLst/>
          </a:prstGeom>
          <a:noFill/>
          <a:ln/>
        </p:spPr>
        <p:txBody>
          <a:bodyPr wrap="square" lIns="0" tIns="0" rIns="0" bIns="0" rtlCol="0" anchor="ctr"/>
          <a:lstStyle/>
          <a:p>
            <a:pPr indent="0" marL="0">
              <a:lnSpc>
                <a:spcPts val="1600"/>
              </a:lnSpc>
              <a:buNone/>
            </a:pPr>
            <a:r>
              <a:rPr lang="en-US" sz="1200" dirty="0">
                <a:solidFill>
                  <a:srgbClr val="6B7787"/>
                </a:solidFill>
                <a:latin typeface="Calibri" pitchFamily="34" charset="0"/>
                <a:ea typeface="Calibri" pitchFamily="34" charset="-122"/>
                <a:cs typeface="Calibri" pitchFamily="34" charset="-120"/>
              </a:rPr>
              <a:t>SpanSet Australia; Exxovantage — the AU suppliers</a:t>
            </a:r>
            <a:endParaRPr lang="en-US" sz="1200" dirty="0"/>
          </a:p>
        </p:txBody>
      </p:sp>
      <p:sp>
        <p:nvSpPr>
          <p:cNvPr id="18" name="Text 16"/>
          <p:cNvSpPr/>
          <p:nvPr/>
        </p:nvSpPr>
        <p:spPr>
          <a:xfrm>
            <a:off x="7315200" y="4261104"/>
            <a:ext cx="4206240" cy="676656"/>
          </a:xfrm>
          <a:prstGeom prst="rect">
            <a:avLst/>
          </a:prstGeom>
          <a:noFill/>
          <a:ln/>
        </p:spPr>
        <p:txBody>
          <a:bodyPr wrap="square" lIns="0" tIns="0" rIns="0" bIns="0" rtlCol="0" anchor="ctr"/>
          <a:lstStyle/>
          <a:p>
            <a:pPr indent="0" marL="0">
              <a:lnSpc>
                <a:spcPts val="1600"/>
              </a:lnSpc>
              <a:buNone/>
            </a:pPr>
            <a:r>
              <a:rPr lang="en-US" sz="1200" b="1" dirty="0">
                <a:solidFill>
                  <a:srgbClr val="9A3F33"/>
                </a:solidFill>
                <a:latin typeface="Calibri" pitchFamily="34" charset="0"/>
                <a:ea typeface="Calibri" pitchFamily="34" charset="-122"/>
                <a:cs typeface="Calibri" pitchFamily="34" charset="-120"/>
              </a:rPr>
              <a:t>Not supported — neither publishes a price. SpanSet only quotes through a rental that credits toward purchase.</a:t>
            </a:r>
            <a:endParaRPr lang="en-US" sz="1200" dirty="0"/>
          </a:p>
        </p:txBody>
      </p:sp>
      <p:sp>
        <p:nvSpPr>
          <p:cNvPr id="19" name="Shape 17"/>
          <p:cNvSpPr/>
          <p:nvPr/>
        </p:nvSpPr>
        <p:spPr>
          <a:xfrm>
            <a:off x="502920" y="5111496"/>
            <a:ext cx="11155680" cy="786384"/>
          </a:xfrm>
          <a:prstGeom prst="roundRect">
            <a:avLst>
              <a:gd name="adj" fmla="val 6977"/>
            </a:avLst>
          </a:prstGeom>
          <a:solidFill>
            <a:srgbClr val="FAFCFE"/>
          </a:solidFill>
          <a:ln w="12700">
            <a:solidFill>
              <a:srgbClr val="E7EDF3"/>
            </a:solidFill>
            <a:prstDash val="solid"/>
          </a:ln>
        </p:spPr>
      </p:sp>
      <p:sp>
        <p:nvSpPr>
          <p:cNvPr id="20" name="Text 18"/>
          <p:cNvSpPr/>
          <p:nvPr/>
        </p:nvSpPr>
        <p:spPr>
          <a:xfrm>
            <a:off x="640080" y="5166360"/>
            <a:ext cx="3246120" cy="676656"/>
          </a:xfrm>
          <a:prstGeom prst="rect">
            <a:avLst/>
          </a:prstGeom>
          <a:noFill/>
          <a:ln/>
        </p:spPr>
        <p:txBody>
          <a:bodyPr wrap="square" lIns="0" tIns="0" rIns="0" bIns="0" rtlCol="0" anchor="ctr"/>
          <a:lstStyle/>
          <a:p>
            <a:pPr indent="0" marL="0">
              <a:lnSpc>
                <a:spcPts val="1700"/>
              </a:lnSpc>
              <a:buNone/>
            </a:pPr>
            <a:r>
              <a:rPr lang="en-US" sz="1300" b="1" dirty="0">
                <a:solidFill>
                  <a:srgbClr val="16212E"/>
                </a:solidFill>
                <a:latin typeface="Calibri" pitchFamily="34" charset="0"/>
                <a:ea typeface="Calibri" pitchFamily="34" charset="-122"/>
                <a:cs typeface="Calibri" pitchFamily="34" charset="-120"/>
              </a:rPr>
              <a:t>“55+” is a single workforce group</a:t>
            </a:r>
            <a:endParaRPr lang="en-US" sz="1300" dirty="0"/>
          </a:p>
        </p:txBody>
      </p:sp>
      <p:sp>
        <p:nvSpPr>
          <p:cNvPr id="21" name="Text 19"/>
          <p:cNvSpPr/>
          <p:nvPr/>
        </p:nvSpPr>
        <p:spPr>
          <a:xfrm>
            <a:off x="4069080" y="5166360"/>
            <a:ext cx="3063240" cy="676656"/>
          </a:xfrm>
          <a:prstGeom prst="rect">
            <a:avLst/>
          </a:prstGeom>
          <a:noFill/>
          <a:ln/>
        </p:spPr>
        <p:txBody>
          <a:bodyPr wrap="square" lIns="0" tIns="0" rIns="0" bIns="0" rtlCol="0" anchor="ctr"/>
          <a:lstStyle/>
          <a:p>
            <a:pPr indent="0" marL="0">
              <a:lnSpc>
                <a:spcPts val="1600"/>
              </a:lnSpc>
              <a:buNone/>
            </a:pPr>
            <a:r>
              <a:rPr lang="en-US" sz="1200" dirty="0">
                <a:solidFill>
                  <a:srgbClr val="6B7787"/>
                </a:solidFill>
                <a:latin typeface="Calibri" pitchFamily="34" charset="0"/>
                <a:ea typeface="Calibri" pitchFamily="34" charset="-122"/>
                <a:cs typeface="Calibri" pitchFamily="34" charset="-120"/>
              </a:rPr>
              <a:t>Jobs and Skills Australia; ABS (Lecture 4)</a:t>
            </a:r>
            <a:endParaRPr lang="en-US" sz="1200" dirty="0"/>
          </a:p>
        </p:txBody>
      </p:sp>
      <p:sp>
        <p:nvSpPr>
          <p:cNvPr id="22" name="Text 20"/>
          <p:cNvSpPr/>
          <p:nvPr/>
        </p:nvSpPr>
        <p:spPr>
          <a:xfrm>
            <a:off x="7315200" y="5166360"/>
            <a:ext cx="4206240" cy="676656"/>
          </a:xfrm>
          <a:prstGeom prst="rect">
            <a:avLst/>
          </a:prstGeom>
          <a:noFill/>
          <a:ln/>
        </p:spPr>
        <p:txBody>
          <a:bodyPr wrap="square" lIns="0" tIns="0" rIns="0" bIns="0" rtlCol="0" anchor="ctr"/>
          <a:lstStyle/>
          <a:p>
            <a:pPr indent="0" marL="0">
              <a:lnSpc>
                <a:spcPts val="1600"/>
              </a:lnSpc>
              <a:buNone/>
            </a:pPr>
            <a:r>
              <a:rPr lang="en-US" sz="1200" b="1" dirty="0">
                <a:solidFill>
                  <a:srgbClr val="9A3F33"/>
                </a:solidFill>
                <a:latin typeface="Calibri" pitchFamily="34" charset="0"/>
                <a:ea typeface="Calibri" pitchFamily="34" charset="-122"/>
                <a:cs typeface="Calibri" pitchFamily="34" charset="-120"/>
              </a:rPr>
              <a:t>Contradicted — participation is 69.6% at 55–64 but 16.3% at 65+: one label, two different problems</a:t>
            </a:r>
            <a:endParaRPr lang="en-US" sz="1200" dirty="0"/>
          </a:p>
        </p:txBody>
      </p:sp>
      <p:sp>
        <p:nvSpPr>
          <p:cNvPr id="23" name="Text 21"/>
          <p:cNvSpPr/>
          <p:nvPr/>
        </p:nvSpPr>
        <p:spPr>
          <a:xfrm>
            <a:off x="640080" y="6144768"/>
            <a:ext cx="10881360" cy="320040"/>
          </a:xfrm>
          <a:prstGeom prst="rect">
            <a:avLst/>
          </a:prstGeom>
          <a:noFill/>
          <a:ln/>
        </p:spPr>
        <p:txBody>
          <a:bodyPr wrap="square" lIns="0" tIns="0" rIns="0" bIns="0" rtlCol="0" anchor="ctr"/>
          <a:lstStyle/>
          <a:p>
            <a:pPr indent="0" marL="0">
              <a:buNone/>
            </a:pPr>
            <a:r>
              <a:rPr lang="en-US" sz="1050" dirty="0">
                <a:solidFill>
                  <a:srgbClr val="6B7787"/>
                </a:solidFill>
                <a:latin typeface="Calibri" pitchFamily="34" charset="0"/>
                <a:ea typeface="Calibri" pitchFamily="34" charset="-122"/>
                <a:cs typeface="Calibri" pitchFamily="34" charset="-120"/>
              </a:rPr>
              <a:t>Sources: Safe Work Australia (2025); Jobs and Skills Australia and ABS via BSB105 Lecture 4; SpanSet Australia and Exxovantage product pages; Schwartz et al. (2023). Full details on the references slide.</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94360"/>
            <a:ext cx="8686800" cy="640080"/>
          </a:xfrm>
          <a:prstGeom prst="rect">
            <a:avLst/>
          </a:prstGeom>
          <a:noFill/>
          <a:ln/>
        </p:spPr>
        <p:txBody>
          <a:bodyPr wrap="square" lIns="0" tIns="0" rIns="0" bIns="0" rtlCol="0" anchor="ctr"/>
          <a:lstStyle/>
          <a:p>
            <a:pPr indent="0" marL="0">
              <a:buNone/>
            </a:pPr>
            <a:r>
              <a:rPr lang="en-US" sz="3800" b="1" dirty="0">
                <a:solidFill>
                  <a:srgbClr val="16212E"/>
                </a:solidFill>
                <a:latin typeface="Cambria" pitchFamily="34" charset="0"/>
                <a:ea typeface="Cambria" pitchFamily="34" charset="-122"/>
                <a:cs typeface="Cambria" pitchFamily="34" charset="-120"/>
              </a:rPr>
              <a:t>CRAAP: the final briefing</a:t>
            </a:r>
            <a:endParaRPr lang="en-US" sz="3800" dirty="0"/>
          </a:p>
        </p:txBody>
      </p:sp>
      <p:sp>
        <p:nvSpPr>
          <p:cNvPr id="3" name="Text 1"/>
          <p:cNvSpPr/>
          <p:nvPr/>
        </p:nvSpPr>
        <p:spPr>
          <a:xfrm>
            <a:off x="640080" y="1280160"/>
            <a:ext cx="10881360" cy="365760"/>
          </a:xfrm>
          <a:prstGeom prst="rect">
            <a:avLst/>
          </a:prstGeom>
          <a:noFill/>
          <a:ln/>
        </p:spPr>
        <p:txBody>
          <a:bodyPr wrap="square" lIns="0" tIns="0" rIns="0" bIns="0" rtlCol="0" anchor="ctr"/>
          <a:lstStyle/>
          <a:p>
            <a:pPr indent="0" marL="0">
              <a:buNone/>
            </a:pPr>
            <a:r>
              <a:rPr lang="en-US" sz="1550" dirty="0">
                <a:solidFill>
                  <a:srgbClr val="6B7787"/>
                </a:solidFill>
                <a:latin typeface="Calibri" pitchFamily="34" charset="0"/>
                <a:ea typeface="Calibri" pitchFamily="34" charset="-122"/>
                <a:cs typeface="Calibri" pitchFamily="34" charset="-120"/>
              </a:rPr>
              <a:t>All five elements applied to the Prompt 5 output — the document Followmont would actually read.</a:t>
            </a:r>
            <a:endParaRPr lang="en-US" sz="1550" dirty="0"/>
          </a:p>
        </p:txBody>
      </p:sp>
      <p:sp>
        <p:nvSpPr>
          <p:cNvPr id="4" name="Shape 2"/>
          <p:cNvSpPr/>
          <p:nvPr/>
        </p:nvSpPr>
        <p:spPr>
          <a:xfrm>
            <a:off x="502920" y="1783080"/>
            <a:ext cx="11155680" cy="786384"/>
          </a:xfrm>
          <a:prstGeom prst="roundRect">
            <a:avLst>
              <a:gd name="adj" fmla="val 6977"/>
            </a:avLst>
          </a:prstGeom>
          <a:solidFill>
            <a:srgbClr val="F2F5F8"/>
          </a:solidFill>
          <a:ln w="12700">
            <a:solidFill>
              <a:srgbClr val="E7EDF3"/>
            </a:solidFill>
            <a:prstDash val="solid"/>
          </a:ln>
        </p:spPr>
      </p:sp>
      <p:sp>
        <p:nvSpPr>
          <p:cNvPr id="5" name="Text 3"/>
          <p:cNvSpPr/>
          <p:nvPr/>
        </p:nvSpPr>
        <p:spPr>
          <a:xfrm>
            <a:off x="777240" y="1837944"/>
            <a:ext cx="1828800" cy="676656"/>
          </a:xfrm>
          <a:prstGeom prst="rect">
            <a:avLst/>
          </a:prstGeom>
          <a:noFill/>
          <a:ln/>
        </p:spPr>
        <p:txBody>
          <a:bodyPr wrap="square" lIns="0" tIns="0" rIns="0" bIns="0" rtlCol="0" anchor="ctr"/>
          <a:lstStyle/>
          <a:p>
            <a:pPr indent="0" marL="0">
              <a:buNone/>
            </a:pPr>
            <a:r>
              <a:rPr lang="en-US" sz="1800" b="1" dirty="0">
                <a:solidFill>
                  <a:srgbClr val="1D5C9B"/>
                </a:solidFill>
                <a:latin typeface="Cambria" pitchFamily="34" charset="0"/>
                <a:ea typeface="Cambria" pitchFamily="34" charset="-122"/>
                <a:cs typeface="Cambria" pitchFamily="34" charset="-120"/>
              </a:rPr>
              <a:t>Currency</a:t>
            </a:r>
            <a:endParaRPr lang="en-US" sz="1800" dirty="0"/>
          </a:p>
        </p:txBody>
      </p:sp>
      <p:sp>
        <p:nvSpPr>
          <p:cNvPr id="6" name="Text 4"/>
          <p:cNvSpPr/>
          <p:nvPr/>
        </p:nvSpPr>
        <p:spPr>
          <a:xfrm>
            <a:off x="2697480" y="1837944"/>
            <a:ext cx="8732520" cy="676656"/>
          </a:xfrm>
          <a:prstGeom prst="rect">
            <a:avLst/>
          </a:prstGeom>
          <a:noFill/>
          <a:ln/>
        </p:spPr>
        <p:txBody>
          <a:bodyPr wrap="square" lIns="0" tIns="0" rIns="0" bIns="0" rtlCol="0" anchor="ctr"/>
          <a:lstStyle/>
          <a:p>
            <a:pPr indent="0" marL="0">
              <a:lnSpc>
                <a:spcPts val="1800"/>
              </a:lnSpc>
              <a:buNone/>
            </a:pPr>
            <a:r>
              <a:rPr lang="en-US" sz="1350" dirty="0">
                <a:solidFill>
                  <a:srgbClr val="16212E"/>
                </a:solidFill>
                <a:latin typeface="Calibri" pitchFamily="34" charset="0"/>
                <a:ea typeface="Calibri" pitchFamily="34" charset="-122"/>
                <a:cs typeface="Calibri" pitchFamily="34" charset="-120"/>
              </a:rPr>
              <a:t>The briefing has no date of its own, and years only appeared when I pushed. The one study I could trace is from 2023.</a:t>
            </a:r>
            <a:endParaRPr lang="en-US" sz="1350" dirty="0"/>
          </a:p>
        </p:txBody>
      </p:sp>
      <p:sp>
        <p:nvSpPr>
          <p:cNvPr id="7" name="Shape 5"/>
          <p:cNvSpPr/>
          <p:nvPr/>
        </p:nvSpPr>
        <p:spPr>
          <a:xfrm>
            <a:off x="502920" y="2679192"/>
            <a:ext cx="11155680" cy="786384"/>
          </a:xfrm>
          <a:prstGeom prst="roundRect">
            <a:avLst>
              <a:gd name="adj" fmla="val 6977"/>
            </a:avLst>
          </a:prstGeom>
          <a:solidFill>
            <a:srgbClr val="FAFCFE"/>
          </a:solidFill>
          <a:ln w="12700">
            <a:solidFill>
              <a:srgbClr val="E7EDF3"/>
            </a:solidFill>
            <a:prstDash val="solid"/>
          </a:ln>
        </p:spPr>
      </p:sp>
      <p:sp>
        <p:nvSpPr>
          <p:cNvPr id="8" name="Text 6"/>
          <p:cNvSpPr/>
          <p:nvPr/>
        </p:nvSpPr>
        <p:spPr>
          <a:xfrm>
            <a:off x="777240" y="2734056"/>
            <a:ext cx="1828800" cy="676656"/>
          </a:xfrm>
          <a:prstGeom prst="rect">
            <a:avLst/>
          </a:prstGeom>
          <a:noFill/>
          <a:ln/>
        </p:spPr>
        <p:txBody>
          <a:bodyPr wrap="square" lIns="0" tIns="0" rIns="0" bIns="0" rtlCol="0" anchor="ctr"/>
          <a:lstStyle/>
          <a:p>
            <a:pPr indent="0" marL="0">
              <a:buNone/>
            </a:pPr>
            <a:r>
              <a:rPr lang="en-US" sz="1800" b="1" dirty="0">
                <a:solidFill>
                  <a:srgbClr val="1D5C9B"/>
                </a:solidFill>
                <a:latin typeface="Cambria" pitchFamily="34" charset="0"/>
                <a:ea typeface="Cambria" pitchFamily="34" charset="-122"/>
                <a:cs typeface="Cambria" pitchFamily="34" charset="-120"/>
              </a:rPr>
              <a:t>Relevance</a:t>
            </a:r>
            <a:endParaRPr lang="en-US" sz="1800" dirty="0"/>
          </a:p>
        </p:txBody>
      </p:sp>
      <p:sp>
        <p:nvSpPr>
          <p:cNvPr id="9" name="Text 7"/>
          <p:cNvSpPr/>
          <p:nvPr/>
        </p:nvSpPr>
        <p:spPr>
          <a:xfrm>
            <a:off x="2697480" y="2734056"/>
            <a:ext cx="8732520" cy="676656"/>
          </a:xfrm>
          <a:prstGeom prst="rect">
            <a:avLst/>
          </a:prstGeom>
          <a:noFill/>
          <a:ln/>
        </p:spPr>
        <p:txBody>
          <a:bodyPr wrap="square" lIns="0" tIns="0" rIns="0" bIns="0" rtlCol="0" anchor="ctr"/>
          <a:lstStyle/>
          <a:p>
            <a:pPr indent="0" marL="0">
              <a:lnSpc>
                <a:spcPts val="1800"/>
              </a:lnSpc>
              <a:buNone/>
            </a:pPr>
            <a:r>
              <a:rPr lang="en-US" sz="1350" dirty="0">
                <a:solidFill>
                  <a:srgbClr val="16212E"/>
                </a:solidFill>
                <a:latin typeface="Calibri" pitchFamily="34" charset="0"/>
                <a:ea typeface="Calibri" pitchFamily="34" charset="-122"/>
                <a:cs typeface="Calibri" pitchFamily="34" charset="-120"/>
              </a:rPr>
              <a:t>It assumes the depot conditions I supplied; it verified none of them. It does answer the decision the leadership team faces, at a length they'd read.</a:t>
            </a:r>
            <a:endParaRPr lang="en-US" sz="1350" dirty="0"/>
          </a:p>
        </p:txBody>
      </p:sp>
      <p:sp>
        <p:nvSpPr>
          <p:cNvPr id="10" name="Shape 8"/>
          <p:cNvSpPr/>
          <p:nvPr/>
        </p:nvSpPr>
        <p:spPr>
          <a:xfrm>
            <a:off x="502920" y="3575304"/>
            <a:ext cx="11155680" cy="786384"/>
          </a:xfrm>
          <a:prstGeom prst="roundRect">
            <a:avLst>
              <a:gd name="adj" fmla="val 6977"/>
            </a:avLst>
          </a:prstGeom>
          <a:solidFill>
            <a:srgbClr val="F2F5F8"/>
          </a:solidFill>
          <a:ln w="12700">
            <a:solidFill>
              <a:srgbClr val="E7EDF3"/>
            </a:solidFill>
            <a:prstDash val="solid"/>
          </a:ln>
        </p:spPr>
      </p:sp>
      <p:sp>
        <p:nvSpPr>
          <p:cNvPr id="11" name="Text 9"/>
          <p:cNvSpPr/>
          <p:nvPr/>
        </p:nvSpPr>
        <p:spPr>
          <a:xfrm>
            <a:off x="777240" y="3630168"/>
            <a:ext cx="1828800" cy="676656"/>
          </a:xfrm>
          <a:prstGeom prst="rect">
            <a:avLst/>
          </a:prstGeom>
          <a:noFill/>
          <a:ln/>
        </p:spPr>
        <p:txBody>
          <a:bodyPr wrap="square" lIns="0" tIns="0" rIns="0" bIns="0" rtlCol="0" anchor="ctr"/>
          <a:lstStyle/>
          <a:p>
            <a:pPr indent="0" marL="0">
              <a:buNone/>
            </a:pPr>
            <a:r>
              <a:rPr lang="en-US" sz="1800" b="1" dirty="0">
                <a:solidFill>
                  <a:srgbClr val="1D5C9B"/>
                </a:solidFill>
                <a:latin typeface="Cambria" pitchFamily="34" charset="0"/>
                <a:ea typeface="Cambria" pitchFamily="34" charset="-122"/>
                <a:cs typeface="Cambria" pitchFamily="34" charset="-120"/>
              </a:rPr>
              <a:t>Authority</a:t>
            </a:r>
            <a:endParaRPr lang="en-US" sz="1800" dirty="0"/>
          </a:p>
        </p:txBody>
      </p:sp>
      <p:sp>
        <p:nvSpPr>
          <p:cNvPr id="12" name="Text 10"/>
          <p:cNvSpPr/>
          <p:nvPr/>
        </p:nvSpPr>
        <p:spPr>
          <a:xfrm>
            <a:off x="2697480" y="3630168"/>
            <a:ext cx="8732520" cy="676656"/>
          </a:xfrm>
          <a:prstGeom prst="rect">
            <a:avLst/>
          </a:prstGeom>
          <a:noFill/>
          <a:ln/>
        </p:spPr>
        <p:txBody>
          <a:bodyPr wrap="square" lIns="0" tIns="0" rIns="0" bIns="0" rtlCol="0" anchor="ctr"/>
          <a:lstStyle/>
          <a:p>
            <a:pPr indent="0" marL="0">
              <a:lnSpc>
                <a:spcPts val="1800"/>
              </a:lnSpc>
              <a:buNone/>
            </a:pPr>
            <a:r>
              <a:rPr lang="en-US" sz="1350" dirty="0">
                <a:solidFill>
                  <a:srgbClr val="16212E"/>
                </a:solidFill>
                <a:latin typeface="Calibri" pitchFamily="34" charset="0"/>
                <a:ea typeface="Calibri" pitchFamily="34" charset="-122"/>
                <a:cs typeface="Calibri" pitchFamily="34" charset="-120"/>
              </a:rPr>
              <a:t>Built on vendor material and overseas trials. No NHVR, no Safe Work Australia — no Australian regulator appears unless I name one.</a:t>
            </a:r>
            <a:endParaRPr lang="en-US" sz="1350" dirty="0"/>
          </a:p>
        </p:txBody>
      </p:sp>
      <p:sp>
        <p:nvSpPr>
          <p:cNvPr id="13" name="Shape 11"/>
          <p:cNvSpPr/>
          <p:nvPr/>
        </p:nvSpPr>
        <p:spPr>
          <a:xfrm>
            <a:off x="502920" y="4471416"/>
            <a:ext cx="11155680" cy="786384"/>
          </a:xfrm>
          <a:prstGeom prst="roundRect">
            <a:avLst>
              <a:gd name="adj" fmla="val 6977"/>
            </a:avLst>
          </a:prstGeom>
          <a:solidFill>
            <a:srgbClr val="FAFCFE"/>
          </a:solidFill>
          <a:ln w="12700">
            <a:solidFill>
              <a:srgbClr val="E7EDF3"/>
            </a:solidFill>
            <a:prstDash val="solid"/>
          </a:ln>
        </p:spPr>
      </p:sp>
      <p:sp>
        <p:nvSpPr>
          <p:cNvPr id="14" name="Text 12"/>
          <p:cNvSpPr/>
          <p:nvPr/>
        </p:nvSpPr>
        <p:spPr>
          <a:xfrm>
            <a:off x="777240" y="4526280"/>
            <a:ext cx="1828800" cy="676656"/>
          </a:xfrm>
          <a:prstGeom prst="rect">
            <a:avLst/>
          </a:prstGeom>
          <a:noFill/>
          <a:ln/>
        </p:spPr>
        <p:txBody>
          <a:bodyPr wrap="square" lIns="0" tIns="0" rIns="0" bIns="0" rtlCol="0" anchor="ctr"/>
          <a:lstStyle/>
          <a:p>
            <a:pPr indent="0" marL="0">
              <a:buNone/>
            </a:pPr>
            <a:r>
              <a:rPr lang="en-US" sz="1800" b="1" dirty="0">
                <a:solidFill>
                  <a:srgbClr val="1D5C9B"/>
                </a:solidFill>
                <a:latin typeface="Cambria" pitchFamily="34" charset="0"/>
                <a:ea typeface="Cambria" pitchFamily="34" charset="-122"/>
                <a:cs typeface="Cambria" pitchFamily="34" charset="-120"/>
              </a:rPr>
              <a:t>Accuracy</a:t>
            </a:r>
            <a:endParaRPr lang="en-US" sz="1800" dirty="0"/>
          </a:p>
        </p:txBody>
      </p:sp>
      <p:sp>
        <p:nvSpPr>
          <p:cNvPr id="15" name="Text 13"/>
          <p:cNvSpPr/>
          <p:nvPr/>
        </p:nvSpPr>
        <p:spPr>
          <a:xfrm>
            <a:off x="2697480" y="4526280"/>
            <a:ext cx="8732520" cy="676656"/>
          </a:xfrm>
          <a:prstGeom prst="rect">
            <a:avLst/>
          </a:prstGeom>
          <a:noFill/>
          <a:ln/>
        </p:spPr>
        <p:txBody>
          <a:bodyPr wrap="square" lIns="0" tIns="0" rIns="0" bIns="0" rtlCol="0" anchor="ctr"/>
          <a:lstStyle/>
          <a:p>
            <a:pPr indent="0" marL="0">
              <a:lnSpc>
                <a:spcPts val="1800"/>
              </a:lnSpc>
              <a:buNone/>
            </a:pPr>
            <a:r>
              <a:rPr lang="en-US" sz="1350" dirty="0">
                <a:solidFill>
                  <a:srgbClr val="16212E"/>
                </a:solidFill>
                <a:latin typeface="Calibri" pitchFamily="34" charset="0"/>
                <a:ea typeface="Calibri" pitchFamily="34" charset="-122"/>
                <a:cs typeface="Calibri" pitchFamily="34" charset="-120"/>
              </a:rPr>
              <a:t>When I checked, the muscle-activity range was overstated — 12–27%, not 15–30%. The costing failed completely: no Australian supplier publishes a price in that band.</a:t>
            </a:r>
            <a:endParaRPr lang="en-US" sz="1350" dirty="0"/>
          </a:p>
        </p:txBody>
      </p:sp>
      <p:sp>
        <p:nvSpPr>
          <p:cNvPr id="16" name="Shape 14"/>
          <p:cNvSpPr/>
          <p:nvPr/>
        </p:nvSpPr>
        <p:spPr>
          <a:xfrm>
            <a:off x="502920" y="5367528"/>
            <a:ext cx="11155680" cy="786384"/>
          </a:xfrm>
          <a:prstGeom prst="roundRect">
            <a:avLst>
              <a:gd name="adj" fmla="val 6977"/>
            </a:avLst>
          </a:prstGeom>
          <a:solidFill>
            <a:srgbClr val="F2F5F8"/>
          </a:solidFill>
          <a:ln w="12700">
            <a:solidFill>
              <a:srgbClr val="E7EDF3"/>
            </a:solidFill>
            <a:prstDash val="solid"/>
          </a:ln>
        </p:spPr>
      </p:sp>
      <p:sp>
        <p:nvSpPr>
          <p:cNvPr id="17" name="Text 15"/>
          <p:cNvSpPr/>
          <p:nvPr/>
        </p:nvSpPr>
        <p:spPr>
          <a:xfrm>
            <a:off x="777240" y="5422392"/>
            <a:ext cx="1828800" cy="676656"/>
          </a:xfrm>
          <a:prstGeom prst="rect">
            <a:avLst/>
          </a:prstGeom>
          <a:noFill/>
          <a:ln/>
        </p:spPr>
        <p:txBody>
          <a:bodyPr wrap="square" lIns="0" tIns="0" rIns="0" bIns="0" rtlCol="0" anchor="ctr"/>
          <a:lstStyle/>
          <a:p>
            <a:pPr indent="0" marL="0">
              <a:buNone/>
            </a:pPr>
            <a:r>
              <a:rPr lang="en-US" sz="1800" b="1" dirty="0">
                <a:solidFill>
                  <a:srgbClr val="1D5C9B"/>
                </a:solidFill>
                <a:latin typeface="Cambria" pitchFamily="34" charset="0"/>
                <a:ea typeface="Cambria" pitchFamily="34" charset="-122"/>
                <a:cs typeface="Cambria" pitchFamily="34" charset="-120"/>
              </a:rPr>
              <a:t>Purpose</a:t>
            </a:r>
            <a:endParaRPr lang="en-US" sz="1800" dirty="0"/>
          </a:p>
        </p:txBody>
      </p:sp>
      <p:sp>
        <p:nvSpPr>
          <p:cNvPr id="18" name="Text 16"/>
          <p:cNvSpPr/>
          <p:nvPr/>
        </p:nvSpPr>
        <p:spPr>
          <a:xfrm>
            <a:off x="2697480" y="5422392"/>
            <a:ext cx="8732520" cy="676656"/>
          </a:xfrm>
          <a:prstGeom prst="rect">
            <a:avLst/>
          </a:prstGeom>
          <a:noFill/>
          <a:ln/>
        </p:spPr>
        <p:txBody>
          <a:bodyPr wrap="square" lIns="0" tIns="0" rIns="0" bIns="0" rtlCol="0" anchor="ctr"/>
          <a:lstStyle/>
          <a:p>
            <a:pPr indent="0" marL="0">
              <a:lnSpc>
                <a:spcPts val="1800"/>
              </a:lnSpc>
              <a:buNone/>
            </a:pPr>
            <a:r>
              <a:rPr lang="en-US" sz="1350" dirty="0">
                <a:solidFill>
                  <a:srgbClr val="16212E"/>
                </a:solidFill>
                <a:latin typeface="Calibri" pitchFamily="34" charset="0"/>
                <a:ea typeface="Calibri" pitchFamily="34" charset="-122"/>
                <a:cs typeface="Calibri" pitchFamily="34" charset="-120"/>
              </a:rPr>
              <a:t>Written to persuade a board to fund a trial. That's the real risk: it sounds certain about evidence that isn't strong enough yet.</a:t>
            </a:r>
            <a:endParaRPr lang="en-US" sz="1350" dirty="0"/>
          </a:p>
        </p:txBody>
      </p:sp>
      <p:sp>
        <p:nvSpPr>
          <p:cNvPr id="19" name="Text 17"/>
          <p:cNvSpPr/>
          <p:nvPr/>
        </p:nvSpPr>
        <p:spPr>
          <a:xfrm>
            <a:off x="640080" y="6355080"/>
            <a:ext cx="10881360" cy="274320"/>
          </a:xfrm>
          <a:prstGeom prst="rect">
            <a:avLst/>
          </a:prstGeom>
          <a:noFill/>
          <a:ln/>
        </p:spPr>
        <p:txBody>
          <a:bodyPr wrap="square" lIns="0" tIns="0" rIns="0" bIns="0" rtlCol="0" anchor="ctr"/>
          <a:lstStyle/>
          <a:p>
            <a:pPr indent="0" marL="0">
              <a:buNone/>
            </a:pPr>
            <a:r>
              <a:rPr lang="en-US" sz="1050" dirty="0">
                <a:solidFill>
                  <a:srgbClr val="6B7787"/>
                </a:solidFill>
                <a:latin typeface="Calibri" pitchFamily="34" charset="0"/>
                <a:ea typeface="Calibri" pitchFamily="34" charset="-122"/>
                <a:cs typeface="Calibri" pitchFamily="34" charset="-120"/>
              </a:rPr>
              <a:t>CRAAP test framework: EdResearch (2022) — see references.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2338"/>
        </a:solidFill>
      </p:bgPr>
    </p:bg>
    <p:spTree>
      <p:nvGrpSpPr>
        <p:cNvPr id="1" name=""/>
        <p:cNvGrpSpPr/>
        <p:nvPr/>
      </p:nvGrpSpPr>
      <p:grpSpPr>
        <a:xfrm>
          <a:off x="0" y="0"/>
          <a:ext cx="0" cy="0"/>
          <a:chOff x="0" y="0"/>
          <a:chExt cx="0" cy="0"/>
        </a:xfrm>
      </p:grpSpPr>
      <p:sp>
        <p:nvSpPr>
          <p:cNvPr id="2" name="Text 0"/>
          <p:cNvSpPr/>
          <p:nvPr/>
        </p:nvSpPr>
        <p:spPr>
          <a:xfrm>
            <a:off x="640080" y="685800"/>
            <a:ext cx="7315200" cy="274320"/>
          </a:xfrm>
          <a:prstGeom prst="rect">
            <a:avLst/>
          </a:prstGeom>
          <a:noFill/>
          <a:ln/>
        </p:spPr>
        <p:txBody>
          <a:bodyPr wrap="square" lIns="0" tIns="0" rIns="0" bIns="0" rtlCol="0" anchor="ctr"/>
          <a:lstStyle/>
          <a:p>
            <a:pPr indent="0" marL="0">
              <a:buNone/>
            </a:pPr>
            <a:r>
              <a:rPr lang="en-US" sz="1300" b="1" spc="250" kern="0" dirty="0">
                <a:solidFill>
                  <a:srgbClr val="5B9BD5"/>
                </a:solidFill>
                <a:latin typeface="Calibri" pitchFamily="34" charset="0"/>
                <a:ea typeface="Calibri" pitchFamily="34" charset="-122"/>
                <a:cs typeface="Calibri" pitchFamily="34" charset="-120"/>
              </a:rPr>
              <a:t>CONCLUSION</a:t>
            </a:r>
            <a:endParaRPr lang="en-US" sz="1300" dirty="0"/>
          </a:p>
        </p:txBody>
      </p:sp>
      <p:sp>
        <p:nvSpPr>
          <p:cNvPr id="3" name="Text 1"/>
          <p:cNvSpPr/>
          <p:nvPr/>
        </p:nvSpPr>
        <p:spPr>
          <a:xfrm>
            <a:off x="640080" y="1143000"/>
            <a:ext cx="10424160" cy="1371600"/>
          </a:xfrm>
          <a:prstGeom prst="rect">
            <a:avLst/>
          </a:prstGeom>
          <a:noFill/>
          <a:ln/>
        </p:spPr>
        <p:txBody>
          <a:bodyPr wrap="square" lIns="0" tIns="0" rIns="0" bIns="0" rtlCol="0" anchor="ctr"/>
          <a:lstStyle/>
          <a:p>
            <a:pPr indent="0" marL="0">
              <a:lnSpc>
                <a:spcPts val="4300"/>
              </a:lnSpc>
              <a:buNone/>
            </a:pPr>
            <a:r>
              <a:rPr lang="en-US" sz="3200" b="1" dirty="0">
                <a:solidFill>
                  <a:srgbClr val="FFFFFF"/>
                </a:solidFill>
                <a:latin typeface="Cambria" pitchFamily="34" charset="0"/>
                <a:ea typeface="Cambria" pitchFamily="34" charset="-122"/>
                <a:cs typeface="Cambria" pitchFamily="34" charset="-120"/>
              </a:rPr>
              <a:t>Detail changed how the answer sounded.</a:t>
            </a:r>
            <a:endParaRPr lang="en-US" sz="3200" dirty="0"/>
          </a:p>
          <a:p>
            <a:pPr indent="0" marL="0">
              <a:lnSpc>
                <a:spcPts val="4300"/>
              </a:lnSpc>
              <a:buNone/>
            </a:pPr>
            <a:r>
              <a:rPr lang="en-US" sz="3200" b="1" dirty="0">
                <a:solidFill>
                  <a:srgbClr val="FFFFFF"/>
                </a:solidFill>
                <a:latin typeface="Cambria" pitchFamily="34" charset="0"/>
                <a:ea typeface="Cambria" pitchFamily="34" charset="-122"/>
                <a:cs typeface="Cambria" pitchFamily="34" charset="-120"/>
              </a:rPr>
              <a:t>Pressure changed what it could prove.</a:t>
            </a:r>
            <a:endParaRPr lang="en-US" sz="3200" dirty="0"/>
          </a:p>
        </p:txBody>
      </p:sp>
      <p:sp>
        <p:nvSpPr>
          <p:cNvPr id="4" name="Shape 2"/>
          <p:cNvSpPr/>
          <p:nvPr/>
        </p:nvSpPr>
        <p:spPr>
          <a:xfrm>
            <a:off x="640080" y="2697480"/>
            <a:ext cx="502920" cy="22860"/>
          </a:xfrm>
          <a:prstGeom prst="rect">
            <a:avLst/>
          </a:prstGeom>
          <a:solidFill>
            <a:srgbClr val="5B9BD5"/>
          </a:solidFill>
          <a:ln/>
        </p:spPr>
      </p:sp>
      <p:sp>
        <p:nvSpPr>
          <p:cNvPr id="5" name="Text 3"/>
          <p:cNvSpPr/>
          <p:nvPr/>
        </p:nvSpPr>
        <p:spPr>
          <a:xfrm>
            <a:off x="640080" y="2907792"/>
            <a:ext cx="3383280" cy="320040"/>
          </a:xfrm>
          <a:prstGeom prst="rect">
            <a:avLst/>
          </a:prstGeom>
          <a:noFill/>
          <a:ln/>
        </p:spPr>
        <p:txBody>
          <a:bodyPr wrap="square" lIns="0" tIns="0" rIns="0" bIns="0" rtlCol="0" anchor="ctr"/>
          <a:lstStyle/>
          <a:p>
            <a:pPr indent="0" marL="0">
              <a:buNone/>
            </a:pPr>
            <a:r>
              <a:rPr lang="en-US" sz="1550" b="1" dirty="0">
                <a:solidFill>
                  <a:srgbClr val="A9C4DC"/>
                </a:solidFill>
                <a:latin typeface="Cambria" pitchFamily="34" charset="0"/>
                <a:ea typeface="Cambria" pitchFamily="34" charset="-122"/>
                <a:cs typeface="Cambria" pitchFamily="34" charset="-120"/>
              </a:rPr>
              <a:t>The generic answer</a:t>
            </a:r>
            <a:endParaRPr lang="en-US" sz="1550" dirty="0"/>
          </a:p>
        </p:txBody>
      </p:sp>
      <p:sp>
        <p:nvSpPr>
          <p:cNvPr id="6" name="Text 4"/>
          <p:cNvSpPr/>
          <p:nvPr/>
        </p:nvSpPr>
        <p:spPr>
          <a:xfrm>
            <a:off x="640080" y="3255264"/>
            <a:ext cx="3383280" cy="640080"/>
          </a:xfrm>
          <a:prstGeom prst="rect">
            <a:avLst/>
          </a:prstGeom>
          <a:noFill/>
          <a:ln/>
        </p:spPr>
        <p:txBody>
          <a:bodyPr wrap="square" lIns="0" tIns="0" rIns="0" bIns="0" rtlCol="0" anchor="t"/>
          <a:lstStyle/>
          <a:p>
            <a:pPr indent="0" marL="0">
              <a:lnSpc>
                <a:spcPts val="2000"/>
              </a:lnSpc>
              <a:buNone/>
            </a:pPr>
            <a:r>
              <a:rPr lang="en-US" sz="1400" dirty="0">
                <a:solidFill>
                  <a:srgbClr val="C3CEDA"/>
                </a:solidFill>
                <a:latin typeface="Calibri" pitchFamily="34" charset="0"/>
                <a:ea typeface="Calibri" pitchFamily="34" charset="-122"/>
                <a:cs typeface="Calibri" pitchFamily="34" charset="-120"/>
              </a:rPr>
              <a:t>was fluent and unusable</a:t>
            </a:r>
            <a:endParaRPr lang="en-US" sz="1400" dirty="0"/>
          </a:p>
        </p:txBody>
      </p:sp>
      <p:sp>
        <p:nvSpPr>
          <p:cNvPr id="7" name="Shape 5"/>
          <p:cNvSpPr/>
          <p:nvPr/>
        </p:nvSpPr>
        <p:spPr>
          <a:xfrm>
            <a:off x="4361688" y="2697480"/>
            <a:ext cx="502920" cy="22860"/>
          </a:xfrm>
          <a:prstGeom prst="rect">
            <a:avLst/>
          </a:prstGeom>
          <a:solidFill>
            <a:srgbClr val="5B9BD5"/>
          </a:solidFill>
          <a:ln/>
        </p:spPr>
      </p:sp>
      <p:sp>
        <p:nvSpPr>
          <p:cNvPr id="8" name="Text 6"/>
          <p:cNvSpPr/>
          <p:nvPr/>
        </p:nvSpPr>
        <p:spPr>
          <a:xfrm>
            <a:off x="4361688" y="2907792"/>
            <a:ext cx="3383280" cy="320040"/>
          </a:xfrm>
          <a:prstGeom prst="rect">
            <a:avLst/>
          </a:prstGeom>
          <a:noFill/>
          <a:ln/>
        </p:spPr>
        <p:txBody>
          <a:bodyPr wrap="square" lIns="0" tIns="0" rIns="0" bIns="0" rtlCol="0" anchor="ctr"/>
          <a:lstStyle/>
          <a:p>
            <a:pPr indent="0" marL="0">
              <a:buNone/>
            </a:pPr>
            <a:r>
              <a:rPr lang="en-US" sz="1550" b="1" dirty="0">
                <a:solidFill>
                  <a:srgbClr val="A9C4DC"/>
                </a:solidFill>
                <a:latin typeface="Cambria" pitchFamily="34" charset="0"/>
                <a:ea typeface="Cambria" pitchFamily="34" charset="-122"/>
                <a:cs typeface="Cambria" pitchFamily="34" charset="-120"/>
              </a:rPr>
              <a:t>The specific answer</a:t>
            </a:r>
            <a:endParaRPr lang="en-US" sz="1550" dirty="0"/>
          </a:p>
        </p:txBody>
      </p:sp>
      <p:sp>
        <p:nvSpPr>
          <p:cNvPr id="9" name="Text 7"/>
          <p:cNvSpPr/>
          <p:nvPr/>
        </p:nvSpPr>
        <p:spPr>
          <a:xfrm>
            <a:off x="4361688" y="3255264"/>
            <a:ext cx="3383280" cy="640080"/>
          </a:xfrm>
          <a:prstGeom prst="rect">
            <a:avLst/>
          </a:prstGeom>
          <a:noFill/>
          <a:ln/>
        </p:spPr>
        <p:txBody>
          <a:bodyPr wrap="square" lIns="0" tIns="0" rIns="0" bIns="0" rtlCol="0" anchor="t"/>
          <a:lstStyle/>
          <a:p>
            <a:pPr indent="0" marL="0">
              <a:lnSpc>
                <a:spcPts val="2000"/>
              </a:lnSpc>
              <a:buNone/>
            </a:pPr>
            <a:r>
              <a:rPr lang="en-US" sz="1400" dirty="0">
                <a:solidFill>
                  <a:srgbClr val="C3CEDA"/>
                </a:solidFill>
                <a:latin typeface="Calibri" pitchFamily="34" charset="0"/>
                <a:ea typeface="Calibri" pitchFamily="34" charset="-122"/>
                <a:cs typeface="Calibri" pitchFamily="34" charset="-120"/>
              </a:rPr>
              <a:t>was confident and still unsourced</a:t>
            </a:r>
            <a:endParaRPr lang="en-US" sz="1400" dirty="0"/>
          </a:p>
        </p:txBody>
      </p:sp>
      <p:sp>
        <p:nvSpPr>
          <p:cNvPr id="10" name="Shape 8"/>
          <p:cNvSpPr/>
          <p:nvPr/>
        </p:nvSpPr>
        <p:spPr>
          <a:xfrm>
            <a:off x="8083296" y="2697480"/>
            <a:ext cx="502920" cy="22860"/>
          </a:xfrm>
          <a:prstGeom prst="rect">
            <a:avLst/>
          </a:prstGeom>
          <a:solidFill>
            <a:srgbClr val="5B9BD5"/>
          </a:solidFill>
          <a:ln/>
        </p:spPr>
      </p:sp>
      <p:sp>
        <p:nvSpPr>
          <p:cNvPr id="11" name="Text 9"/>
          <p:cNvSpPr/>
          <p:nvPr/>
        </p:nvSpPr>
        <p:spPr>
          <a:xfrm>
            <a:off x="8083296" y="2907792"/>
            <a:ext cx="3383280" cy="320040"/>
          </a:xfrm>
          <a:prstGeom prst="rect">
            <a:avLst/>
          </a:prstGeom>
          <a:noFill/>
          <a:ln/>
        </p:spPr>
        <p:txBody>
          <a:bodyPr wrap="square" lIns="0" tIns="0" rIns="0" bIns="0" rtlCol="0" anchor="ctr"/>
          <a:lstStyle/>
          <a:p>
            <a:pPr indent="0" marL="0">
              <a:buNone/>
            </a:pPr>
            <a:r>
              <a:rPr lang="en-US" sz="1550" b="1" dirty="0">
                <a:solidFill>
                  <a:srgbClr val="A9C4DC"/>
                </a:solidFill>
                <a:latin typeface="Cambria" pitchFamily="34" charset="0"/>
                <a:ea typeface="Cambria" pitchFamily="34" charset="-122"/>
                <a:cs typeface="Cambria" pitchFamily="34" charset="-120"/>
              </a:rPr>
              <a:t>Only the direct challenge</a:t>
            </a:r>
            <a:endParaRPr lang="en-US" sz="1550" dirty="0"/>
          </a:p>
        </p:txBody>
      </p:sp>
      <p:sp>
        <p:nvSpPr>
          <p:cNvPr id="12" name="Text 10"/>
          <p:cNvSpPr/>
          <p:nvPr/>
        </p:nvSpPr>
        <p:spPr>
          <a:xfrm>
            <a:off x="8083296" y="3255264"/>
            <a:ext cx="3383280" cy="640080"/>
          </a:xfrm>
          <a:prstGeom prst="rect">
            <a:avLst/>
          </a:prstGeom>
          <a:noFill/>
          <a:ln/>
        </p:spPr>
        <p:txBody>
          <a:bodyPr wrap="square" lIns="0" tIns="0" rIns="0" bIns="0" rtlCol="0" anchor="t"/>
          <a:lstStyle/>
          <a:p>
            <a:pPr indent="0" marL="0">
              <a:lnSpc>
                <a:spcPts val="2000"/>
              </a:lnSpc>
              <a:buNone/>
            </a:pPr>
            <a:r>
              <a:rPr lang="en-US" sz="1400" dirty="0">
                <a:solidFill>
                  <a:srgbClr val="C3CEDA"/>
                </a:solidFill>
                <a:latin typeface="Calibri" pitchFamily="34" charset="0"/>
                <a:ea typeface="Calibri" pitchFamily="34" charset="-122"/>
                <a:cs typeface="Calibri" pitchFamily="34" charset="-120"/>
              </a:rPr>
              <a:t>separated evidence from filler</a:t>
            </a:r>
            <a:endParaRPr lang="en-US" sz="1400" dirty="0"/>
          </a:p>
        </p:txBody>
      </p:sp>
      <p:sp>
        <p:nvSpPr>
          <p:cNvPr id="13" name="Shape 11"/>
          <p:cNvSpPr/>
          <p:nvPr/>
        </p:nvSpPr>
        <p:spPr>
          <a:xfrm>
            <a:off x="640080" y="4069080"/>
            <a:ext cx="10881360" cy="2194560"/>
          </a:xfrm>
          <a:prstGeom prst="roundRect">
            <a:avLst>
              <a:gd name="adj" fmla="val 3333"/>
            </a:avLst>
          </a:prstGeom>
          <a:solidFill>
            <a:srgbClr val="1F6BAE"/>
          </a:solidFill>
          <a:ln/>
        </p:spPr>
      </p:sp>
      <p:sp>
        <p:nvSpPr>
          <p:cNvPr id="14" name="Text 12"/>
          <p:cNvSpPr/>
          <p:nvPr/>
        </p:nvSpPr>
        <p:spPr>
          <a:xfrm>
            <a:off x="1051560" y="4279392"/>
            <a:ext cx="10058400" cy="274320"/>
          </a:xfrm>
          <a:prstGeom prst="rect">
            <a:avLst/>
          </a:prstGeom>
          <a:noFill/>
          <a:ln/>
        </p:spPr>
        <p:txBody>
          <a:bodyPr wrap="square" lIns="0" tIns="0" rIns="0" bIns="0" rtlCol="0" anchor="ctr"/>
          <a:lstStyle/>
          <a:p>
            <a:pPr indent="0" marL="0">
              <a:buNone/>
            </a:pPr>
            <a:r>
              <a:rPr lang="en-US" sz="1150" b="1" spc="200" kern="0" dirty="0">
                <a:solidFill>
                  <a:srgbClr val="D6E4F2"/>
                </a:solidFill>
                <a:latin typeface="Calibri" pitchFamily="34" charset="0"/>
                <a:ea typeface="Calibri" pitchFamily="34" charset="-122"/>
                <a:cs typeface="Calibri" pitchFamily="34" charset="-120"/>
              </a:rPr>
              <a:t>RECOMMENDATION TO FOLLOWMONT</a:t>
            </a:r>
            <a:endParaRPr lang="en-US" sz="1150" dirty="0"/>
          </a:p>
        </p:txBody>
      </p:sp>
      <p:sp>
        <p:nvSpPr>
          <p:cNvPr id="15" name="Text 13"/>
          <p:cNvSpPr/>
          <p:nvPr/>
        </p:nvSpPr>
        <p:spPr>
          <a:xfrm>
            <a:off x="1051560" y="4590288"/>
            <a:ext cx="10058400" cy="41148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Proceed — but to a measured trial, not a rollout.</a:t>
            </a:r>
            <a:endParaRPr lang="en-US" sz="2400" dirty="0"/>
          </a:p>
        </p:txBody>
      </p:sp>
      <p:sp>
        <p:nvSpPr>
          <p:cNvPr id="16" name="Text 14"/>
          <p:cNvSpPr/>
          <p:nvPr/>
        </p:nvSpPr>
        <p:spPr>
          <a:xfrm>
            <a:off x="1051560" y="5084064"/>
            <a:ext cx="10058400" cy="1097280"/>
          </a:xfrm>
          <a:prstGeom prst="rect">
            <a:avLst/>
          </a:prstGeom>
          <a:noFill/>
          <a:ln/>
        </p:spPr>
        <p:txBody>
          <a:bodyPr wrap="square" lIns="0" tIns="0" rIns="0" bIns="0" rtlCol="0" anchor="t"/>
          <a:lstStyle/>
          <a:p>
            <a:pPr indent="0" marL="0">
              <a:lnSpc>
                <a:spcPts val="1900"/>
              </a:lnSpc>
              <a:buNone/>
            </a:pPr>
            <a:r>
              <a:rPr lang="en-US" sz="1350" dirty="0">
                <a:solidFill>
                  <a:srgbClr val="EAF2F9"/>
                </a:solidFill>
                <a:latin typeface="Calibri" pitchFamily="34" charset="0"/>
                <a:ea typeface="Calibri" pitchFamily="34" charset="-122"/>
                <a:cs typeface="Calibri" pitchFamily="34" charset="-120"/>
              </a:rPr>
              <a:t>The barrier is real — I confirmed that myself. The technology is not yet proven for Australian road freight — the evidence comes from overseas labs, and no Australian supplier supports the price range. Trial it at one depot for six months against two measures recorded before it starts: body-stressing claims and time-loss days. That turns an unproven recommendation into something Followmont can actually test.</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6400800" cy="685800"/>
          </a:xfrm>
          <a:prstGeom prst="rect">
            <a:avLst/>
          </a:prstGeom>
          <a:noFill/>
          <a:ln/>
        </p:spPr>
        <p:txBody>
          <a:bodyPr wrap="square" lIns="0" tIns="0" rIns="0" bIns="0" rtlCol="0" anchor="ctr"/>
          <a:lstStyle/>
          <a:p>
            <a:pPr indent="0" marL="0">
              <a:buNone/>
            </a:pPr>
            <a:r>
              <a:rPr lang="en-US" sz="4000" b="1" dirty="0">
                <a:solidFill>
                  <a:srgbClr val="16212E"/>
                </a:solidFill>
                <a:latin typeface="Cambria" pitchFamily="34" charset="0"/>
                <a:ea typeface="Cambria" pitchFamily="34" charset="-122"/>
                <a:cs typeface="Cambria" pitchFamily="34" charset="-120"/>
              </a:rPr>
              <a:t>References</a:t>
            </a:r>
            <a:endParaRPr lang="en-US" sz="4000" dirty="0"/>
          </a:p>
        </p:txBody>
      </p:sp>
      <p:sp>
        <p:nvSpPr>
          <p:cNvPr id="3" name="Text 1"/>
          <p:cNvSpPr/>
          <p:nvPr/>
        </p:nvSpPr>
        <p:spPr>
          <a:xfrm>
            <a:off x="640080" y="1572768"/>
            <a:ext cx="10881360" cy="502920"/>
          </a:xfrm>
          <a:prstGeom prst="rect">
            <a:avLst/>
          </a:prstGeom>
          <a:noFill/>
          <a:ln/>
        </p:spPr>
        <p:txBody>
          <a:bodyPr wrap="square" lIns="0" tIns="0" rIns="0" bIns="0" rtlCol="0" anchor="t"/>
          <a:lstStyle/>
          <a:p>
            <a:pPr indent="0" marL="0">
              <a:lnSpc>
                <a:spcPts val="1600"/>
              </a:lnSpc>
              <a:buNone/>
            </a:pPr>
            <a:r>
              <a:rPr lang="en-US" sz="1150" b="1" dirty="0">
                <a:solidFill>
                  <a:srgbClr val="1D5C9B"/>
                </a:solidFill>
                <a:latin typeface="Calibri" pitchFamily="34" charset="0"/>
                <a:ea typeface="Calibri" pitchFamily="34" charset="-122"/>
                <a:cs typeface="Calibri" pitchFamily="34" charset="-120"/>
              </a:rPr>
              <a:t>CRAAP test — </a:t>
            </a:r>
            <a:pPr indent="0" marL="0">
              <a:lnSpc>
                <a:spcPts val="1600"/>
              </a:lnSpc>
              <a:buNone/>
            </a:pPr>
            <a:r>
              <a:rPr lang="en-US" sz="1150" dirty="0">
                <a:solidFill>
                  <a:srgbClr val="16212E"/>
                </a:solidFill>
                <a:latin typeface="Calibri" pitchFamily="34" charset="0"/>
                <a:ea typeface="Calibri" pitchFamily="34" charset="-122"/>
                <a:cs typeface="Calibri" pitchFamily="34" charset="-120"/>
              </a:rPr>
              <a:t>Australian Education Research Organisation. (2022). Evaluating non-academic sources: The CRAAP test. https://www.edresearch.edu.au/guides-resources/practice-resources/evaluating-non-academic-sources-craap-test</a:t>
            </a:r>
            <a:endParaRPr lang="en-US" sz="1150" dirty="0"/>
          </a:p>
        </p:txBody>
      </p:sp>
      <p:sp>
        <p:nvSpPr>
          <p:cNvPr id="4" name="Text 2"/>
          <p:cNvSpPr/>
          <p:nvPr/>
        </p:nvSpPr>
        <p:spPr>
          <a:xfrm>
            <a:off x="640080" y="2258568"/>
            <a:ext cx="10881360" cy="502920"/>
          </a:xfrm>
          <a:prstGeom prst="rect">
            <a:avLst/>
          </a:prstGeom>
          <a:noFill/>
          <a:ln/>
        </p:spPr>
        <p:txBody>
          <a:bodyPr wrap="square" lIns="0" tIns="0" rIns="0" bIns="0" rtlCol="0" anchor="t"/>
          <a:lstStyle/>
          <a:p>
            <a:pPr indent="0" marL="0">
              <a:lnSpc>
                <a:spcPts val="1600"/>
              </a:lnSpc>
              <a:buNone/>
            </a:pPr>
            <a:r>
              <a:rPr lang="en-US" sz="1150" b="1" dirty="0">
                <a:solidFill>
                  <a:srgbClr val="1D5C9B"/>
                </a:solidFill>
                <a:latin typeface="Calibri" pitchFamily="34" charset="0"/>
                <a:ea typeface="Calibri" pitchFamily="34" charset="-122"/>
                <a:cs typeface="Calibri" pitchFamily="34" charset="-120"/>
              </a:rPr>
              <a:t>Injury and claims data — </a:t>
            </a:r>
            <a:pPr indent="0" marL="0">
              <a:lnSpc>
                <a:spcPts val="1600"/>
              </a:lnSpc>
              <a:buNone/>
            </a:pPr>
            <a:r>
              <a:rPr lang="en-US" sz="1150" dirty="0">
                <a:solidFill>
                  <a:srgbClr val="16212E"/>
                </a:solidFill>
                <a:latin typeface="Calibri" pitchFamily="34" charset="0"/>
                <a:ea typeface="Calibri" pitchFamily="34" charset="-122"/>
                <a:cs typeface="Calibri" pitchFamily="34" charset="-120"/>
              </a:rPr>
              <a:t>Safe Work Australia. (2025). Key work health and safety statistics Australia. https://data.safeworkaustralia.gov.au/insights/key-whs-statistics-australia/latest-release</a:t>
            </a:r>
            <a:endParaRPr lang="en-US" sz="1150" dirty="0"/>
          </a:p>
        </p:txBody>
      </p:sp>
      <p:sp>
        <p:nvSpPr>
          <p:cNvPr id="5" name="Text 3"/>
          <p:cNvSpPr/>
          <p:nvPr/>
        </p:nvSpPr>
        <p:spPr>
          <a:xfrm>
            <a:off x="640080" y="2944368"/>
            <a:ext cx="10881360" cy="502920"/>
          </a:xfrm>
          <a:prstGeom prst="rect">
            <a:avLst/>
          </a:prstGeom>
          <a:noFill/>
          <a:ln/>
        </p:spPr>
        <p:txBody>
          <a:bodyPr wrap="square" lIns="0" tIns="0" rIns="0" bIns="0" rtlCol="0" anchor="t"/>
          <a:lstStyle/>
          <a:p>
            <a:pPr indent="0" marL="0">
              <a:lnSpc>
                <a:spcPts val="1600"/>
              </a:lnSpc>
              <a:buNone/>
            </a:pPr>
            <a:r>
              <a:rPr lang="en-US" sz="1150" b="1" dirty="0">
                <a:solidFill>
                  <a:srgbClr val="1D5C9B"/>
                </a:solidFill>
                <a:latin typeface="Calibri" pitchFamily="34" charset="0"/>
                <a:ea typeface="Calibri" pitchFamily="34" charset="-122"/>
                <a:cs typeface="Calibri" pitchFamily="34" charset="-120"/>
              </a:rPr>
              <a:t>Workforce participation — </a:t>
            </a:r>
            <a:pPr indent="0" marL="0">
              <a:lnSpc>
                <a:spcPts val="1600"/>
              </a:lnSpc>
              <a:buNone/>
            </a:pPr>
            <a:r>
              <a:rPr lang="en-US" sz="1150" dirty="0">
                <a:solidFill>
                  <a:srgbClr val="16212E"/>
                </a:solidFill>
                <a:latin typeface="Calibri" pitchFamily="34" charset="0"/>
                <a:ea typeface="Calibri" pitchFamily="34" charset="-122"/>
                <a:cs typeface="Calibri" pitchFamily="34" charset="-120"/>
              </a:rPr>
              <a:t>Jobs and Skills Australia &amp; Australian Bureau of Statistics, as cited in BSB105 The Future Enterprise, Lecture 4 (2026). Participation rate 69.6% (55–64); 16.3% (65+).</a:t>
            </a:r>
            <a:endParaRPr lang="en-US" sz="1150" dirty="0"/>
          </a:p>
        </p:txBody>
      </p:sp>
      <p:sp>
        <p:nvSpPr>
          <p:cNvPr id="6" name="Text 4"/>
          <p:cNvSpPr/>
          <p:nvPr/>
        </p:nvSpPr>
        <p:spPr>
          <a:xfrm>
            <a:off x="640080" y="3630168"/>
            <a:ext cx="10881360" cy="278892"/>
          </a:xfrm>
          <a:prstGeom prst="rect">
            <a:avLst/>
          </a:prstGeom>
          <a:noFill/>
          <a:ln/>
        </p:spPr>
        <p:txBody>
          <a:bodyPr wrap="square" lIns="0" tIns="0" rIns="0" bIns="0" rtlCol="0" anchor="t"/>
          <a:lstStyle/>
          <a:p>
            <a:pPr indent="0" marL="0">
              <a:lnSpc>
                <a:spcPts val="1600"/>
              </a:lnSpc>
              <a:buNone/>
            </a:pPr>
            <a:r>
              <a:rPr lang="en-US" sz="1150" b="1" dirty="0">
                <a:solidFill>
                  <a:srgbClr val="1D5C9B"/>
                </a:solidFill>
                <a:latin typeface="Calibri" pitchFamily="34" charset="0"/>
                <a:ea typeface="Calibri" pitchFamily="34" charset="-122"/>
                <a:cs typeface="Calibri" pitchFamily="34" charset="-120"/>
              </a:rPr>
              <a:t>Client provocation — </a:t>
            </a:r>
            <a:pPr indent="0" marL="0">
              <a:lnSpc>
                <a:spcPts val="1600"/>
              </a:lnSpc>
              <a:buNone/>
            </a:pPr>
            <a:r>
              <a:rPr lang="en-US" sz="1150" dirty="0">
                <a:solidFill>
                  <a:srgbClr val="16212E"/>
                </a:solidFill>
                <a:latin typeface="Calibri" pitchFamily="34" charset="0"/>
                <a:ea typeface="Calibri" pitchFamily="34" charset="-122"/>
                <a:cs typeface="Calibri" pitchFamily="34" charset="-120"/>
              </a:rPr>
              <a:t>Followmont Transport. (2026, July). Presentation to Queensland University of Technology.</a:t>
            </a:r>
            <a:endParaRPr lang="en-US" sz="1150" dirty="0"/>
          </a:p>
        </p:txBody>
      </p:sp>
      <p:sp>
        <p:nvSpPr>
          <p:cNvPr id="7" name="Text 5"/>
          <p:cNvSpPr/>
          <p:nvPr/>
        </p:nvSpPr>
        <p:spPr>
          <a:xfrm>
            <a:off x="640080" y="4091940"/>
            <a:ext cx="10881360" cy="502920"/>
          </a:xfrm>
          <a:prstGeom prst="rect">
            <a:avLst/>
          </a:prstGeom>
          <a:noFill/>
          <a:ln/>
        </p:spPr>
        <p:txBody>
          <a:bodyPr wrap="square" lIns="0" tIns="0" rIns="0" bIns="0" rtlCol="0" anchor="t"/>
          <a:lstStyle/>
          <a:p>
            <a:pPr indent="0" marL="0">
              <a:lnSpc>
                <a:spcPts val="1600"/>
              </a:lnSpc>
              <a:buNone/>
            </a:pPr>
            <a:r>
              <a:rPr lang="en-US" sz="1150" b="1" dirty="0">
                <a:solidFill>
                  <a:srgbClr val="1D5C9B"/>
                </a:solidFill>
                <a:latin typeface="Calibri" pitchFamily="34" charset="0"/>
                <a:ea typeface="Calibri" pitchFamily="34" charset="-122"/>
                <a:cs typeface="Calibri" pitchFamily="34" charset="-120"/>
              </a:rPr>
              <a:t>Vendor sources — </a:t>
            </a:r>
            <a:pPr indent="0" marL="0">
              <a:lnSpc>
                <a:spcPts val="1600"/>
              </a:lnSpc>
              <a:buNone/>
            </a:pPr>
            <a:r>
              <a:rPr lang="en-US" sz="1150" dirty="0">
                <a:solidFill>
                  <a:srgbClr val="16212E"/>
                </a:solidFill>
                <a:latin typeface="Calibri" pitchFamily="34" charset="0"/>
                <a:ea typeface="Calibri" pitchFamily="34" charset="-122"/>
                <a:cs typeface="Calibri" pitchFamily="34" charset="-120"/>
              </a:rPr>
              <a:t>SpanSet Australia. OmniSuit exoskeleton. https://www.spanset.com/au-en/products/omnisuit-33654 · Exxovantage. Back exoskeletons. https://www.exxovantage.com/back-exoskeletons</a:t>
            </a:r>
            <a:endParaRPr lang="en-US" sz="1150" dirty="0"/>
          </a:p>
        </p:txBody>
      </p:sp>
      <p:sp>
        <p:nvSpPr>
          <p:cNvPr id="8" name="Text 6"/>
          <p:cNvSpPr/>
          <p:nvPr/>
        </p:nvSpPr>
        <p:spPr>
          <a:xfrm>
            <a:off x="640080" y="4777740"/>
            <a:ext cx="10881360" cy="726948"/>
          </a:xfrm>
          <a:prstGeom prst="rect">
            <a:avLst/>
          </a:prstGeom>
          <a:noFill/>
          <a:ln/>
        </p:spPr>
        <p:txBody>
          <a:bodyPr wrap="square" lIns="0" tIns="0" rIns="0" bIns="0" rtlCol="0" anchor="t"/>
          <a:lstStyle/>
          <a:p>
            <a:pPr indent="0" marL="0">
              <a:lnSpc>
                <a:spcPts val="1600"/>
              </a:lnSpc>
              <a:buNone/>
            </a:pPr>
            <a:r>
              <a:rPr lang="en-US" sz="1150" b="1" dirty="0">
                <a:solidFill>
                  <a:srgbClr val="1D5C9B"/>
                </a:solidFill>
                <a:latin typeface="Calibri" pitchFamily="34" charset="0"/>
                <a:ea typeface="Calibri" pitchFamily="34" charset="-122"/>
                <a:cs typeface="Calibri" pitchFamily="34" charset="-120"/>
              </a:rPr>
              <a:t>Exoskeleton evidence — </a:t>
            </a:r>
            <a:pPr indent="0" marL="0">
              <a:lnSpc>
                <a:spcPts val="1600"/>
              </a:lnSpc>
              <a:buNone/>
            </a:pPr>
            <a:r>
              <a:rPr lang="en-US" sz="1150" dirty="0">
                <a:solidFill>
                  <a:srgbClr val="16212E"/>
                </a:solidFill>
                <a:latin typeface="Calibri" pitchFamily="34" charset="0"/>
                <a:ea typeface="Calibri" pitchFamily="34" charset="-122"/>
                <a:cs typeface="Calibri" pitchFamily="34" charset="-120"/>
              </a:rPr>
              <a:t>Schwartz, M., Desbrosses, K., Theurel, J., &amp; Mornieux, G. (2023). Biomechanical consequences of using passive and active back-support exoskeletons during different manual handling tasks. International Journal of Environmental Research and Public Health, 20(15), 6468. https://doi.org/10.3390/ijerph20156468</a:t>
            </a:r>
            <a:endParaRPr lang="en-US" sz="1150" dirty="0"/>
          </a:p>
        </p:txBody>
      </p:sp>
      <p:sp>
        <p:nvSpPr>
          <p:cNvPr id="9" name="Text 7"/>
          <p:cNvSpPr/>
          <p:nvPr/>
        </p:nvSpPr>
        <p:spPr>
          <a:xfrm>
            <a:off x="640080" y="5687568"/>
            <a:ext cx="10881360" cy="502920"/>
          </a:xfrm>
          <a:prstGeom prst="rect">
            <a:avLst/>
          </a:prstGeom>
          <a:noFill/>
          <a:ln/>
        </p:spPr>
        <p:txBody>
          <a:bodyPr wrap="square" lIns="0" tIns="0" rIns="0" bIns="0" rtlCol="0" anchor="t"/>
          <a:lstStyle/>
          <a:p>
            <a:pPr indent="0" marL="0">
              <a:lnSpc>
                <a:spcPts val="1600"/>
              </a:lnSpc>
              <a:buNone/>
            </a:pPr>
            <a:r>
              <a:rPr lang="en-US" sz="1150" b="1" dirty="0">
                <a:solidFill>
                  <a:srgbClr val="1D5C9B"/>
                </a:solidFill>
                <a:latin typeface="Calibri" pitchFamily="34" charset="0"/>
                <a:ea typeface="Calibri" pitchFamily="34" charset="-122"/>
                <a:cs typeface="Calibri" pitchFamily="34" charset="-120"/>
              </a:rPr>
              <a:t>GenAI acknowledgement — </a:t>
            </a:r>
            <a:pPr indent="0" marL="0">
              <a:lnSpc>
                <a:spcPts val="1600"/>
              </a:lnSpc>
              <a:buNone/>
            </a:pPr>
            <a:r>
              <a:rPr lang="en-US" sz="1150" dirty="0">
                <a:solidFill>
                  <a:srgbClr val="16212E"/>
                </a:solidFill>
                <a:latin typeface="Calibri" pitchFamily="34" charset="0"/>
                <a:ea typeface="Calibri" pitchFamily="34" charset="-122"/>
                <a:cs typeface="Calibri" pitchFamily="34" charset="-120"/>
              </a:rPr>
              <a:t>Claude (Anthropic) was used to generate all AI content analysed here, in a single conversation, August 2026. Full transcript retained and available on request.</a:t>
            </a:r>
            <a:endParaRPr lang="en-US" sz="1150" dirty="0"/>
          </a:p>
        </p:txBody>
      </p:sp>
      <p:sp>
        <p:nvSpPr>
          <p:cNvPr id="10" name="Text 8"/>
          <p:cNvSpPr/>
          <p:nvPr/>
        </p:nvSpPr>
        <p:spPr>
          <a:xfrm>
            <a:off x="640080" y="6355080"/>
            <a:ext cx="10881360" cy="274320"/>
          </a:xfrm>
          <a:prstGeom prst="rect">
            <a:avLst/>
          </a:prstGeom>
          <a:noFill/>
          <a:ln/>
        </p:spPr>
        <p:txBody>
          <a:bodyPr wrap="square" lIns="0" tIns="0" rIns="0" bIns="0" rtlCol="0" anchor="ctr"/>
          <a:lstStyle/>
          <a:p>
            <a:pPr indent="0" marL="0">
              <a:buNone/>
            </a:pPr>
            <a:r>
              <a:rPr lang="en-US" sz="1100" i="1" dirty="0">
                <a:solidFill>
                  <a:srgbClr val="6B7787"/>
                </a:solidFill>
                <a:latin typeface="Calibri" pitchFamily="34" charset="0"/>
                <a:ea typeface="Calibri" pitchFamily="34" charset="-122"/>
                <a:cs typeface="Calibri" pitchFamily="34" charset="-120"/>
              </a:rPr>
              <a:t>All URLs accessed 17 August 2026.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Five Prompts, One Client Problem</dc:title>
  <dc:subject>PptxGenJS Presentation</dc:subject>
  <dc:creator>Business Assessment</dc:creator>
  <cp:lastModifiedBy>Business Assessment</cp:lastModifiedBy>
  <cp:revision>1</cp:revision>
  <dcterms:created xsi:type="dcterms:W3CDTF">2026-08-18T00:03:31Z</dcterms:created>
  <dcterms:modified xsi:type="dcterms:W3CDTF">2026-08-18T00:03:31Z</dcterms:modified>
</cp:coreProperties>
</file>